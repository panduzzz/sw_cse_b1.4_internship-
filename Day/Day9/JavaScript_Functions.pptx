
<file path=[Content_Types].xml><?xml version="1.0" encoding="utf-8"?>
<Types xmlns="http://schemas.openxmlformats.org/package/2006/content-types">
  <Default Extension="bin" ContentType="image/pn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4" r:id="rId8"/>
    <p:sldId id="266" r:id="rId9"/>
    <p:sldId id="287" r:id="rId10"/>
    <p:sldId id="268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89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8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427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544E5-7EA9-A00F-222A-D4EFD78DE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F15C68-2B3F-571A-7DF0-7D84C2B520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24CA8-D6DB-E063-9105-674BE4F57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9F916-4B1C-3D95-33C8-9363A83D5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3C38B-70AE-5980-A3CD-A4ECE0FE4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490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2B496-8638-954D-4D09-C97F3AC8E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1CEC1-09D0-ABCF-EC32-672B8E2C1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oundRect">
            <a:avLst>
              <a:gd name="adj" fmla="val 4177"/>
            </a:avLst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72C83-063E-4D70-4E31-94AF42721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1F97A-D64B-7236-A706-E42180251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059C3-F302-3320-7EC0-1110229FD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176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003E3-9AC9-6E4D-2CA7-E9B5F6066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9BBAA-7735-4006-4526-51F26B538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25614-D125-39B8-FA07-FF17A1E77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1BEE3-EE59-8FAC-294A-B32FAE563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334F7-18E4-AD6F-99B3-E81880B24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066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34CF3-3D4D-C273-8CCD-5EAD90959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1182B-98E8-AA42-1A59-7EFEA90A80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18EEEB-B32D-8CC9-16A6-554B5027B9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709EF-B791-2EEA-36E2-38104C12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15842E-6F3A-A85B-6D53-65B5AE8C2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AEBD62-29A1-2911-ADF8-F8BCCA803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215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D5427-74A9-5ED8-7773-0A9D0520D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BD954-6CF1-9CE6-CACF-455F6CC77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18FDFA-E79B-681D-21E4-8E6CB44C99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421589-80D3-F4DE-2BF3-EF09A5477D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954D82-8EA7-380F-7522-B00F34C5AA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AFC3FA-8362-05F0-1E84-C69C84DCA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F4058C-EFDC-73FA-7296-F85EE350D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CFA4C7-97BF-BB6D-558A-3F9C45D2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021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93F998-5CFD-9FFA-739A-73D9D616D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6F2A18-A0A1-3DF4-CA91-995A773C6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E8E93-DC20-D6E7-8A2C-80486A532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722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D7E1B-3550-3840-CD6B-54BC1D478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AA294-D019-64D6-420D-13887C448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6530B7-90A7-3613-AC11-A4CB41AF5E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3F1F35-E180-2D84-1260-3DD835132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44B64A-BFA1-F5FA-CA69-5D81434A2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10EBEF-E358-2D3D-A2F9-B6EB3A1BF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873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252C4-2991-64A8-3E05-2F2A11D18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9B7D28-C3EE-DA99-F6DF-A1DC180A7E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57CCCF-DEC8-7499-A7D2-878197E24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9535CF-242A-22B4-F764-120A33715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6783F1-76D6-C1A9-D67F-2FB614073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A694F2-6D19-29F7-3336-F3AE37B77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844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C3A7F-4EF9-67FA-EE14-171F15FA0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3C73FB-80A5-F9CD-8920-45772AC4BF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95C18-2C1E-842B-417A-C5BB0492D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08207-1CD2-27A0-E167-60E3A4037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D08D8-2F64-5C6E-959B-A18A7017F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910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B9B0B3-0B63-BDB9-ED7B-5690C538CD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B7BFFE-AAD6-8C50-43D9-A990F62561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AC6E2-04DF-6DEE-3397-2F511BB83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D5E37-2472-4004-E51E-65D6D8A00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1BAC8-106B-CFB9-8D4B-11A9E7D75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413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9AFC7-5A92-11DE-9403-A24DCCB90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287" y="1443517"/>
            <a:ext cx="10515600" cy="1325563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Quicksand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15A780-312C-AC19-25E9-5A8A6C0B7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050968"/>
      </p:ext>
    </p:extLst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ct">
            <a:extLst>
              <a:ext uri="{FF2B5EF4-FFF2-40B4-BE49-F238E27FC236}">
                <a16:creationId xmlns:a16="http://schemas.microsoft.com/office/drawing/2014/main" id="{1CEABFB7-0E55-6B42-07AC-811A73351439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alphaModFix/>
          </a:blip>
          <a:stretch/>
        </p:blipFill>
        <p:spPr>
          <a:xfrm>
            <a:off x="0" y="0"/>
            <a:ext cx="10601325" cy="1420273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3DBBF8-B311-9293-FDF3-4A284D9FB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132" y="9471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C9F6C6-73A5-0E7A-7077-E131FC32C6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oundRect">
            <a:avLst>
              <a:gd name="adj" fmla="val 4177"/>
            </a:avLst>
          </a:prstGeom>
          <a:solidFill>
            <a:srgbClr val="DDE4F8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 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7E770-D3AD-DCE7-4035-43C1F5E493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A65FE-6E8B-5A92-BCDE-6641812534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37AEF-085A-A1E4-5D23-50EC9146D0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layoutShapeInnerChild1">
            <a:extLst>
              <a:ext uri="{FF2B5EF4-FFF2-40B4-BE49-F238E27FC236}">
                <a16:creationId xmlns:a16="http://schemas.microsoft.com/office/drawing/2014/main" id="{5DE74BB6-3FFA-3BBE-C247-88A534B93E63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alphaModFix/>
            <a:extLst>
              <a:ext uri="{899FBA48-7B2C-474C-B2AE-7FA3B76AA679}">
                <a14:useLocalDpi xmlns="" xmlns:a16="http://schemas.microsoft.com/office/drawing/2014/main" xmlns:asvg="http://schemas.microsoft.com/office/drawing/2016/SVG/main" xmlns:p14="http://schemas.microsoft.com/office/powerpoint/2010/main" xmlns:a14="http://schemas.microsoft.com/office/drawing/2010/main" val="0"/>
              </a:ext>
            </a:extLst>
          </a:blip>
          <a:srcRect t="-261" b="-261"/>
          <a:stretch/>
        </p:blipFill>
        <p:spPr>
          <a:xfrm>
            <a:off x="11743019" y="329183"/>
            <a:ext cx="448981" cy="89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67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  <p:bldP spid="3" grpId="0" uiExpand="1" build="p" animBg="1">
        <p:tmplLst>
          <p:tmpl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1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Quicksand" pitchFamily="2" charset="0"/>
          <a:ea typeface="+mj-ea"/>
          <a:cs typeface="+mj-cs"/>
        </a:defRPr>
      </a:lvl1pPr>
    </p:titleStyle>
    <p:bodyStyle>
      <a:lvl1pPr marL="801688" indent="-228600" algn="l" defTabSz="914400" rtl="0" eaLnBrk="1" latinLnBrk="0" hangingPunct="1">
        <a:lnSpc>
          <a:spcPct val="150000"/>
        </a:lnSpc>
        <a:spcBef>
          <a:spcPts val="10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b="1" kern="1200">
          <a:solidFill>
            <a:schemeClr val="tx1"/>
          </a:solidFill>
          <a:latin typeface="Quicksand" pitchFamily="2" charset="0"/>
          <a:ea typeface="+mn-ea"/>
          <a:cs typeface="+mn-cs"/>
        </a:defRPr>
      </a:lvl1pPr>
      <a:lvl2pPr marL="1258888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2pPr>
      <a:lvl3pPr marL="1614488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3pPr>
      <a:lvl4pPr marL="1884363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4pPr>
      <a:lvl5pPr marL="2155825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189E3D27-06FD-FF00-C751-A1A1563054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0922" y="1878703"/>
            <a:ext cx="3988076" cy="4653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3091070"/>
            <a:ext cx="9144000" cy="1114632"/>
          </a:xfrm>
        </p:spPr>
        <p:txBody>
          <a:bodyPr/>
          <a:lstStyle/>
          <a:p>
            <a:r>
              <a:rPr dirty="0">
                <a:solidFill>
                  <a:schemeClr val="tx1"/>
                </a:solidFill>
              </a:rPr>
              <a:t>JavaScript Functions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BD62C24-7825-607A-042C-3EE17CC59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What is a function?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192D7FC-43DA-5418-9B26-D5B0B00C93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A function:</a:t>
            </a:r>
          </a:p>
          <a:p>
            <a:pPr lvl="1"/>
            <a:r>
              <a:rPr lang="en-US" dirty="0"/>
              <a:t>Takes input (parameters).</a:t>
            </a:r>
          </a:p>
          <a:p>
            <a:pPr lvl="1"/>
            <a:r>
              <a:rPr lang="en-US" dirty="0"/>
              <a:t>Performs some logic.</a:t>
            </a:r>
          </a:p>
          <a:p>
            <a:pPr lvl="1"/>
            <a:r>
              <a:rPr lang="en-US" dirty="0"/>
              <a:t>Optionally returns a result.</a:t>
            </a:r>
          </a:p>
          <a:p>
            <a:r>
              <a:rPr lang="en-US" dirty="0"/>
              <a:t>function greet() {</a:t>
            </a:r>
          </a:p>
          <a:p>
            <a:r>
              <a:rPr lang="en-US" dirty="0"/>
              <a:t>  console.log("Hello!");</a:t>
            </a:r>
          </a:p>
          <a:p>
            <a:r>
              <a:rPr lang="en-US" dirty="0"/>
              <a:t>}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6AED65D-ECF3-C78F-5111-C72965A47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Function declaration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0BC0CD4-3572-9AED-C1BF-A84357586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600">
                <a:latin typeface="Consolas"/>
              </a:defRPr>
            </a:pPr>
            <a:r>
              <a:rPr lang="en-US" sz="1800" dirty="0"/>
              <a:t>The most common way to define a function.</a:t>
            </a:r>
          </a:p>
          <a:p>
            <a:pPr lvl="1">
              <a:defRPr sz="1600">
                <a:latin typeface="Consolas"/>
              </a:defRPr>
            </a:pPr>
            <a:r>
              <a:rPr lang="en-US" sz="1800" dirty="0"/>
              <a:t>function greet(name) {</a:t>
            </a:r>
          </a:p>
          <a:p>
            <a:pPr lvl="1">
              <a:defRPr sz="1600">
                <a:latin typeface="Consolas"/>
              </a:defRPr>
            </a:pPr>
            <a:r>
              <a:rPr lang="en-US" sz="1800" dirty="0"/>
              <a:t>  console.log("Hello, " + name);</a:t>
            </a:r>
          </a:p>
          <a:p>
            <a:pPr lvl="1">
              <a:defRPr sz="1600">
                <a:latin typeface="Consolas"/>
              </a:defRPr>
            </a:pPr>
            <a:r>
              <a:rPr lang="en-US" sz="1800" dirty="0"/>
              <a:t>}</a:t>
            </a:r>
          </a:p>
          <a:p>
            <a:pPr lvl="1">
              <a:defRPr sz="1600">
                <a:latin typeface="Consolas"/>
              </a:defRPr>
            </a:pPr>
            <a:r>
              <a:rPr lang="en-US" sz="1800" dirty="0"/>
              <a:t>greet("Asha");</a:t>
            </a:r>
          </a:p>
          <a:p>
            <a:pPr lvl="1">
              <a:defRPr sz="1600">
                <a:latin typeface="Consolas"/>
              </a:defRPr>
            </a:pPr>
            <a:r>
              <a:rPr lang="en-US" sz="1800" dirty="0"/>
              <a:t>greet("Riya");</a:t>
            </a:r>
          </a:p>
          <a:p>
            <a:pPr>
              <a:defRPr sz="1600">
                <a:latin typeface="Consolas"/>
              </a:defRPr>
            </a:pPr>
            <a:endParaRPr lang="en-IN" sz="18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06C4630-48F8-4B5B-2DC9-D8997A043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Parts of a function declaration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BB02EF1-75F0-D8CE-3F9A-0BC88E212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function keyword</a:t>
            </a:r>
          </a:p>
          <a:p>
            <a:r>
              <a:rPr lang="en-US" dirty="0"/>
              <a:t>Function name</a:t>
            </a:r>
          </a:p>
          <a:p>
            <a:r>
              <a:rPr lang="en-US" dirty="0"/>
              <a:t>Parameters in parentheses</a:t>
            </a:r>
          </a:p>
          <a:p>
            <a:r>
              <a:rPr lang="en-US" dirty="0"/>
              <a:t>Body inside {}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D68D70B-3F47-4324-4EDB-860D10903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3. Function call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67FAA0C-670E-F525-9ED2-F51495A26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run a function, you use its name followed by ().</a:t>
            </a:r>
          </a:p>
          <a:p>
            <a:pPr lvl="1"/>
            <a:r>
              <a:rPr lang="en-US" dirty="0"/>
              <a:t>function add(a, b) {</a:t>
            </a:r>
          </a:p>
          <a:p>
            <a:pPr lvl="1"/>
            <a:r>
              <a:rPr lang="en-US" dirty="0"/>
              <a:t>  return a + b;</a:t>
            </a:r>
          </a:p>
          <a:p>
            <a:pPr lvl="1"/>
            <a:r>
              <a:rPr lang="en-US" dirty="0"/>
              <a:t>}</a:t>
            </a:r>
          </a:p>
          <a:p>
            <a:pPr lvl="1"/>
            <a:r>
              <a:rPr lang="en-US" dirty="0"/>
              <a:t>let result = add(5, 3); // 8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C822325-799C-1F27-D66F-7F30A745C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4. Parameters and arguments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10EDE59-2B72-3FCA-8091-E0E51245D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Parameters are names in the function definition.</a:t>
            </a:r>
          </a:p>
          <a:p>
            <a:r>
              <a:rPr lang="en-US" dirty="0"/>
              <a:t>Arguments are actual values passed when calling the function.</a:t>
            </a:r>
          </a:p>
          <a:p>
            <a:pPr lvl="1"/>
            <a:r>
              <a:rPr lang="en-US" dirty="0"/>
              <a:t>function multiply(x, y) {</a:t>
            </a:r>
          </a:p>
          <a:p>
            <a:pPr lvl="1"/>
            <a:r>
              <a:rPr lang="en-US" dirty="0"/>
              <a:t>  return x * y;</a:t>
            </a:r>
          </a:p>
          <a:p>
            <a:pPr lvl="1"/>
            <a:r>
              <a:rPr lang="en-US" dirty="0"/>
              <a:t>} </a:t>
            </a:r>
          </a:p>
          <a:p>
            <a:pPr lvl="1"/>
            <a:r>
              <a:rPr lang="en-US" dirty="0"/>
              <a:t>let product = multiply(4, 5); // 20</a:t>
            </a:r>
          </a:p>
          <a:p>
            <a:r>
              <a:rPr lang="en-US" dirty="0"/>
              <a:t>Here x and y are parameters; 4 and 5 are arguments.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8077D39-6F81-746E-F332-C45D8C3E6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5. Return statement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A4B9C5B-4BB4-4190-EB11-B21692F7D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Functions can return a value using return.</a:t>
            </a:r>
          </a:p>
          <a:p>
            <a:pPr lvl="1"/>
            <a:r>
              <a:rPr lang="en-US" dirty="0"/>
              <a:t>function square(n) {</a:t>
            </a:r>
          </a:p>
          <a:p>
            <a:pPr lvl="1"/>
            <a:r>
              <a:rPr lang="en-US" dirty="0"/>
              <a:t>  return n * n;</a:t>
            </a:r>
          </a:p>
          <a:p>
            <a:pPr lvl="1"/>
            <a:r>
              <a:rPr lang="en-US" dirty="0"/>
              <a:t>} </a:t>
            </a:r>
          </a:p>
          <a:p>
            <a:pPr lvl="1"/>
            <a:r>
              <a:rPr lang="en-US" dirty="0"/>
              <a:t>let s = square(6); // 36</a:t>
            </a:r>
          </a:p>
          <a:p>
            <a:r>
              <a:rPr lang="en-US" dirty="0"/>
              <a:t>If there is no return, the function returns undefined.</a:t>
            </a:r>
          </a:p>
          <a:p>
            <a:pPr lvl="1"/>
            <a:r>
              <a:rPr lang="en-US" dirty="0"/>
              <a:t>function </a:t>
            </a:r>
            <a:r>
              <a:rPr lang="en-US" dirty="0" err="1"/>
              <a:t>sayHi</a:t>
            </a:r>
            <a:r>
              <a:rPr lang="en-US" dirty="0"/>
              <a:t>() {</a:t>
            </a:r>
          </a:p>
          <a:p>
            <a:pPr lvl="1"/>
            <a:r>
              <a:rPr lang="en-US" dirty="0"/>
              <a:t>  console.log("Hi");</a:t>
            </a:r>
          </a:p>
          <a:p>
            <a:pPr lvl="1"/>
            <a:r>
              <a:rPr lang="en-US" dirty="0"/>
              <a:t>}</a:t>
            </a:r>
          </a:p>
          <a:p>
            <a:pPr lvl="1"/>
            <a:r>
              <a:rPr lang="en-US" dirty="0"/>
              <a:t>let value = </a:t>
            </a:r>
            <a:r>
              <a:rPr lang="en-US" dirty="0" err="1"/>
              <a:t>sayHi</a:t>
            </a:r>
            <a:r>
              <a:rPr lang="en-US" dirty="0"/>
              <a:t>(); // value is undefined</a:t>
            </a:r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F949CF1-E085-B369-DE3D-3A31888BB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6. Function expression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BB74B00-4A0A-E2DE-FBD6-A0612C28EF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function can be stored in a variable.</a:t>
            </a:r>
          </a:p>
          <a:p>
            <a:pPr lvl="1"/>
            <a:r>
              <a:rPr lang="en-US" dirty="0"/>
              <a:t>const greet = function(name) {</a:t>
            </a:r>
          </a:p>
          <a:p>
            <a:pPr lvl="1"/>
            <a:r>
              <a:rPr lang="en-US" dirty="0"/>
              <a:t>  return "Hello, " + name;</a:t>
            </a:r>
          </a:p>
          <a:p>
            <a:pPr lvl="1"/>
            <a:r>
              <a:rPr lang="en-US" dirty="0"/>
              <a:t>};</a:t>
            </a:r>
          </a:p>
          <a:p>
            <a:pPr lvl="1"/>
            <a:r>
              <a:rPr lang="en-US" dirty="0"/>
              <a:t>console.log(greet("Asha"));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4A70C-03A7-5C7A-9628-7896359BF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B39ABC4-5B3A-3EA8-6013-39C697170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6. Function expression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2826AD6-A847-2686-A35E-9FE4E6E93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Differences from declaration:</a:t>
            </a:r>
          </a:p>
          <a:p>
            <a:pPr lvl="1"/>
            <a:r>
              <a:rPr lang="en-US" dirty="0"/>
              <a:t>Expression is not hoisted in the same way.</a:t>
            </a:r>
          </a:p>
          <a:p>
            <a:pPr lvl="1"/>
            <a:r>
              <a:rPr lang="en-US" dirty="0"/>
              <a:t>Often used when passing functions as values.</a:t>
            </a:r>
          </a:p>
        </p:txBody>
      </p:sp>
    </p:spTree>
    <p:extLst>
      <p:ext uri="{BB962C8B-B14F-4D97-AF65-F5344CB8AC3E}">
        <p14:creationId xmlns:p14="http://schemas.microsoft.com/office/powerpoint/2010/main" val="3661478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B8F46DC-EA35-3B15-E9CC-61ACD5343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7. Arrow functions*****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A6BD30E-72CF-0C75-A7A5-C120FABAA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 shorter syntax for writing functions.</a:t>
            </a:r>
          </a:p>
          <a:p>
            <a:pPr lvl="1"/>
            <a:r>
              <a:rPr lang="en-US" dirty="0"/>
              <a:t>const add = (a, b) =&gt; {</a:t>
            </a:r>
          </a:p>
          <a:p>
            <a:pPr lvl="1"/>
            <a:r>
              <a:rPr lang="en-US" dirty="0"/>
              <a:t>  return a + b;</a:t>
            </a:r>
          </a:p>
          <a:p>
            <a:pPr lvl="1"/>
            <a:r>
              <a:rPr lang="en-US" dirty="0"/>
              <a:t>};</a:t>
            </a:r>
          </a:p>
          <a:p>
            <a:r>
              <a:rPr lang="en-US" dirty="0"/>
              <a:t>If the function has a single expression, you can omit {} and return.</a:t>
            </a:r>
          </a:p>
          <a:p>
            <a:pPr lvl="1"/>
            <a:r>
              <a:rPr lang="en-US" dirty="0"/>
              <a:t>const add = (a, b) =&gt; a + b;</a:t>
            </a:r>
          </a:p>
          <a:p>
            <a:r>
              <a:rPr lang="en-US" dirty="0"/>
              <a:t>If there is only one parameter, you can omit `()`.</a:t>
            </a:r>
          </a:p>
          <a:p>
            <a:pPr lvl="1"/>
            <a:r>
              <a:rPr lang="en-US" dirty="0"/>
              <a:t>const double = n =&gt; n * 2;</a:t>
            </a:r>
          </a:p>
          <a:p>
            <a:r>
              <a:rPr lang="en-US" dirty="0"/>
              <a:t>Arrow functions do not have their own `this` (important in advanced JavaScript).</a:t>
            </a:r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Default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rPr dirty="0"/>
              <a:t>You can set default values for parameters.</a:t>
            </a:r>
          </a:p>
          <a:p>
            <a:pPr lvl="1">
              <a:defRPr sz="1600"/>
            </a:pPr>
            <a:r>
              <a:rPr dirty="0"/>
              <a:t>function greet(name = "Guest") {</a:t>
            </a:r>
          </a:p>
          <a:p>
            <a:pPr lvl="1">
              <a:defRPr sz="1600"/>
            </a:pPr>
            <a:r>
              <a:rPr dirty="0"/>
              <a:t>  return "Hello, " + name;</a:t>
            </a:r>
          </a:p>
          <a:p>
            <a:pPr lvl="1">
              <a:defRPr sz="1600"/>
            </a:pPr>
            <a:r>
              <a:rPr dirty="0"/>
              <a:t>}</a:t>
            </a:r>
          </a:p>
          <a:p>
            <a:pPr lvl="1">
              <a:defRPr sz="1600"/>
            </a:pPr>
            <a:r>
              <a:rPr dirty="0"/>
              <a:t>console.log(greet());        // Hello, Guest</a:t>
            </a:r>
          </a:p>
          <a:p>
            <a:pPr lvl="1">
              <a:defRPr sz="1600"/>
            </a:pPr>
            <a:r>
              <a:rPr dirty="0"/>
              <a:t>console.log(greet("Asha"));  // Hello, Asha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Rest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 sz="1600"/>
            </a:pPr>
            <a:r>
              <a:rPr dirty="0"/>
              <a:t>Used to collect multiple arguments into an array.</a:t>
            </a:r>
          </a:p>
          <a:p>
            <a:pPr lvl="1">
              <a:defRPr sz="1600"/>
            </a:pPr>
            <a:r>
              <a:rPr dirty="0"/>
              <a:t>function sum(...numbers) {</a:t>
            </a:r>
          </a:p>
          <a:p>
            <a:pPr lvl="1">
              <a:defRPr sz="1600"/>
            </a:pPr>
            <a:r>
              <a:rPr dirty="0"/>
              <a:t>  let total = 0;</a:t>
            </a:r>
          </a:p>
          <a:p>
            <a:pPr lvl="1">
              <a:defRPr sz="1600"/>
            </a:pPr>
            <a:r>
              <a:rPr dirty="0"/>
              <a:t>  for (let n of numbers) {</a:t>
            </a:r>
          </a:p>
          <a:p>
            <a:pPr lvl="1">
              <a:defRPr sz="1600"/>
            </a:pPr>
            <a:r>
              <a:rPr dirty="0"/>
              <a:t>    total += n;</a:t>
            </a:r>
          </a:p>
          <a:p>
            <a:pPr lvl="1">
              <a:defRPr sz="1600"/>
            </a:pPr>
            <a:r>
              <a:rPr dirty="0"/>
              <a:t>  }</a:t>
            </a:r>
          </a:p>
          <a:p>
            <a:pPr lvl="1">
              <a:defRPr sz="1600"/>
            </a:pPr>
            <a:r>
              <a:rPr dirty="0"/>
              <a:t>  return total;</a:t>
            </a:r>
          </a:p>
          <a:p>
            <a:pPr lvl="1">
              <a:defRPr sz="1600"/>
            </a:pPr>
            <a:r>
              <a:rPr dirty="0"/>
              <a:t>}</a:t>
            </a:r>
          </a:p>
          <a:p>
            <a:pPr lvl="1">
              <a:defRPr sz="1600"/>
            </a:pPr>
            <a:r>
              <a:rPr dirty="0"/>
              <a:t>console.log(sum(1, 2, 3));     // 6</a:t>
            </a:r>
          </a:p>
          <a:p>
            <a:pPr lvl="1">
              <a:defRPr sz="1600"/>
            </a:pPr>
            <a:r>
              <a:rPr dirty="0"/>
              <a:t>console.log(sum(10, 20, 30));  // 60</a:t>
            </a:r>
          </a:p>
          <a:p>
            <a:pPr>
              <a:defRPr sz="1600"/>
            </a:pPr>
            <a:r>
              <a:rPr dirty="0"/>
              <a:t>Only one rest parameter is allowed, and it must be last.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4132" y="94710"/>
            <a:ext cx="9878108" cy="1325563"/>
          </a:xfrm>
        </p:spPr>
        <p:txBody>
          <a:bodyPr>
            <a:normAutofit/>
          </a:bodyPr>
          <a:lstStyle/>
          <a:p>
            <a:r>
              <a:rPr sz="4000" dirty="0"/>
              <a:t>10. </a:t>
            </a:r>
            <a:r>
              <a:rPr sz="4000" dirty="0" err="1"/>
              <a:t>IIFE</a:t>
            </a:r>
            <a:r>
              <a:rPr sz="4000" dirty="0"/>
              <a:t> (Immediately Invoked Function Expression)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rPr dirty="0"/>
              <a:t>A function that runs immediately after it is defined.</a:t>
            </a:r>
          </a:p>
          <a:p>
            <a:pPr lvl="1">
              <a:defRPr sz="1600"/>
            </a:pPr>
            <a:r>
              <a:rPr dirty="0"/>
              <a:t>(function() {</a:t>
            </a:r>
          </a:p>
          <a:p>
            <a:pPr lvl="1">
              <a:defRPr sz="1600"/>
            </a:pPr>
            <a:r>
              <a:rPr dirty="0"/>
              <a:t>  console.log("This runs at once");</a:t>
            </a:r>
          </a:p>
          <a:p>
            <a:pPr lvl="1">
              <a:defRPr sz="1600"/>
            </a:pPr>
            <a:r>
              <a:rPr dirty="0"/>
              <a:t>})();</a:t>
            </a:r>
          </a:p>
          <a:p>
            <a:pPr>
              <a:defRPr sz="1600"/>
            </a:pPr>
            <a:r>
              <a:rPr dirty="0"/>
              <a:t>Useful for creating a private scope.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Function hoisting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 sz="1600"/>
            </a:pPr>
            <a:r>
              <a:rPr dirty="0"/>
              <a:t>Function declarations are hoisted, so you can call them before they appear in the code.</a:t>
            </a:r>
          </a:p>
          <a:p>
            <a:pPr lvl="1">
              <a:defRPr sz="1600"/>
            </a:pPr>
            <a:r>
              <a:rPr dirty="0"/>
              <a:t>console.log(add(2, 3)); // works</a:t>
            </a:r>
          </a:p>
          <a:p>
            <a:pPr lvl="1">
              <a:defRPr sz="1600"/>
            </a:pPr>
            <a:r>
              <a:rPr dirty="0"/>
              <a:t>function add(a, b) {</a:t>
            </a:r>
          </a:p>
          <a:p>
            <a:pPr lvl="1">
              <a:defRPr sz="1600"/>
            </a:pPr>
            <a:r>
              <a:rPr dirty="0"/>
              <a:t>  return a + b;</a:t>
            </a:r>
          </a:p>
          <a:p>
            <a:pPr lvl="1">
              <a:defRPr sz="1600"/>
            </a:pPr>
            <a:r>
              <a:rPr dirty="0"/>
              <a:t>}</a:t>
            </a:r>
          </a:p>
          <a:p>
            <a:pPr>
              <a:defRPr sz="1600"/>
            </a:pPr>
            <a:r>
              <a:rPr dirty="0"/>
              <a:t>Function expressions are not hoisted in the same way.</a:t>
            </a:r>
          </a:p>
          <a:p>
            <a:pPr lvl="1">
              <a:defRPr sz="1600"/>
            </a:pPr>
            <a:r>
              <a:rPr dirty="0"/>
              <a:t>console.log(sub(5, 2)); // error</a:t>
            </a:r>
          </a:p>
          <a:p>
            <a:pPr lvl="1">
              <a:defRPr sz="1600"/>
            </a:pPr>
            <a:r>
              <a:rPr dirty="0"/>
              <a:t>const sub = function(a, b) {</a:t>
            </a:r>
          </a:p>
          <a:p>
            <a:pPr lvl="1">
              <a:defRPr sz="1600"/>
            </a:pPr>
            <a:r>
              <a:rPr dirty="0"/>
              <a:t>  return a - b;</a:t>
            </a:r>
          </a:p>
          <a:p>
            <a:pPr lvl="1">
              <a:defRPr sz="1600"/>
            </a:pPr>
            <a:r>
              <a:rPr dirty="0"/>
              <a:t>};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12. Higher-order functions</a:t>
            </a:r>
            <a:r>
              <a:rPr lang="en-US" dirty="0"/>
              <a:t>***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600"/>
            </a:pPr>
            <a:r>
              <a:rPr dirty="0"/>
              <a:t>A function that takes another function as an argument or returns a function.</a:t>
            </a:r>
          </a:p>
          <a:p>
            <a:pPr lvl="1">
              <a:defRPr sz="1600"/>
            </a:pPr>
            <a:r>
              <a:rPr dirty="0"/>
              <a:t>function </a:t>
            </a:r>
            <a:r>
              <a:rPr dirty="0" err="1"/>
              <a:t>runTwice</a:t>
            </a:r>
            <a:r>
              <a:rPr dirty="0"/>
              <a:t>(</a:t>
            </a:r>
            <a:r>
              <a:rPr dirty="0" err="1"/>
              <a:t>fn</a:t>
            </a:r>
            <a:r>
              <a:rPr dirty="0"/>
              <a:t>) {</a:t>
            </a:r>
          </a:p>
          <a:p>
            <a:pPr lvl="1">
              <a:defRPr sz="1600"/>
            </a:pPr>
            <a:r>
              <a:rPr dirty="0"/>
              <a:t>  </a:t>
            </a:r>
            <a:r>
              <a:rPr dirty="0" err="1"/>
              <a:t>fn</a:t>
            </a:r>
            <a:r>
              <a:rPr dirty="0"/>
              <a:t>();</a:t>
            </a:r>
          </a:p>
          <a:p>
            <a:pPr lvl="1">
              <a:defRPr sz="1600"/>
            </a:pPr>
            <a:r>
              <a:rPr dirty="0"/>
              <a:t>  </a:t>
            </a:r>
            <a:r>
              <a:rPr dirty="0" err="1"/>
              <a:t>fn</a:t>
            </a:r>
            <a:r>
              <a:rPr dirty="0"/>
              <a:t>();</a:t>
            </a:r>
          </a:p>
          <a:p>
            <a:pPr lvl="1">
              <a:defRPr sz="1600"/>
            </a:pPr>
            <a:r>
              <a:rPr dirty="0"/>
              <a:t>}</a:t>
            </a:r>
          </a:p>
          <a:p>
            <a:pPr lvl="1">
              <a:defRPr sz="1600"/>
            </a:pPr>
            <a:r>
              <a:rPr dirty="0" err="1"/>
              <a:t>runTwice</a:t>
            </a:r>
            <a:r>
              <a:rPr dirty="0"/>
              <a:t>(function() {</a:t>
            </a:r>
          </a:p>
          <a:p>
            <a:pPr lvl="1">
              <a:defRPr sz="1600"/>
            </a:pPr>
            <a:r>
              <a:rPr dirty="0"/>
              <a:t>  console.log("Hello");</a:t>
            </a:r>
          </a:p>
          <a:p>
            <a:pPr lvl="1">
              <a:defRPr sz="1600"/>
            </a:pPr>
            <a:r>
              <a:rPr dirty="0"/>
              <a:t>});</a:t>
            </a:r>
          </a:p>
          <a:p>
            <a:pPr>
              <a:defRPr sz="1600"/>
            </a:pPr>
            <a:r>
              <a:rPr dirty="0"/>
              <a:t>Many array methods (`map`, `filter`, `reduce`) are higher-order functions.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13. Callback functions</a:t>
            </a:r>
            <a:r>
              <a:rPr lang="en-US" dirty="0"/>
              <a:t>***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600"/>
            </a:pPr>
            <a:r>
              <a:rPr dirty="0"/>
              <a:t>A function passed into another function and executed later.</a:t>
            </a:r>
          </a:p>
          <a:p>
            <a:pPr lvl="1">
              <a:defRPr sz="1600"/>
            </a:pPr>
            <a:r>
              <a:rPr dirty="0"/>
              <a:t>function </a:t>
            </a:r>
            <a:r>
              <a:rPr dirty="0" err="1"/>
              <a:t>fetchData</a:t>
            </a:r>
            <a:r>
              <a:rPr dirty="0"/>
              <a:t>(callback) {</a:t>
            </a:r>
          </a:p>
          <a:p>
            <a:pPr lvl="1">
              <a:defRPr sz="1600"/>
            </a:pPr>
            <a:r>
              <a:rPr dirty="0"/>
              <a:t>  let data = "Some data";</a:t>
            </a:r>
          </a:p>
          <a:p>
            <a:pPr lvl="1">
              <a:defRPr sz="1600"/>
            </a:pPr>
            <a:r>
              <a:rPr dirty="0"/>
              <a:t>  callback(data);</a:t>
            </a:r>
          </a:p>
          <a:p>
            <a:pPr lvl="1">
              <a:defRPr sz="1600"/>
            </a:pPr>
            <a:r>
              <a:rPr dirty="0"/>
              <a:t>}</a:t>
            </a:r>
          </a:p>
          <a:p>
            <a:pPr lvl="1">
              <a:defRPr sz="1600"/>
            </a:pPr>
            <a:r>
              <a:rPr dirty="0" err="1"/>
              <a:t>fetchData</a:t>
            </a:r>
            <a:r>
              <a:rPr dirty="0"/>
              <a:t>(function(data) {</a:t>
            </a:r>
          </a:p>
          <a:p>
            <a:pPr lvl="1">
              <a:defRPr sz="1600"/>
            </a:pPr>
            <a:r>
              <a:rPr dirty="0"/>
              <a:t>  console.log("Received:", data);</a:t>
            </a:r>
          </a:p>
          <a:p>
            <a:pPr lvl="1">
              <a:defRPr sz="1600"/>
            </a:pPr>
            <a:r>
              <a:rPr dirty="0"/>
              <a:t>});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14. Functions returning functions</a:t>
            </a:r>
            <a:r>
              <a:rPr lang="en-US" dirty="0"/>
              <a:t>**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600"/>
            </a:pPr>
            <a:r>
              <a:rPr dirty="0"/>
              <a:t>Functions can return other functions.</a:t>
            </a:r>
          </a:p>
          <a:p>
            <a:pPr lvl="1">
              <a:defRPr sz="1600"/>
            </a:pPr>
            <a:r>
              <a:rPr dirty="0"/>
              <a:t>function </a:t>
            </a:r>
            <a:r>
              <a:rPr dirty="0" err="1"/>
              <a:t>createMultiplier</a:t>
            </a:r>
            <a:r>
              <a:rPr dirty="0"/>
              <a:t>(n) {</a:t>
            </a:r>
          </a:p>
          <a:p>
            <a:pPr lvl="1">
              <a:defRPr sz="1600"/>
            </a:pPr>
            <a:r>
              <a:rPr dirty="0"/>
              <a:t>  return function(x) {</a:t>
            </a:r>
          </a:p>
          <a:p>
            <a:pPr lvl="1">
              <a:defRPr sz="1600"/>
            </a:pPr>
            <a:r>
              <a:rPr dirty="0"/>
              <a:t>    return x * n;</a:t>
            </a:r>
          </a:p>
          <a:p>
            <a:pPr lvl="1">
              <a:defRPr sz="1600"/>
            </a:pPr>
            <a:r>
              <a:rPr dirty="0"/>
              <a:t>  };</a:t>
            </a:r>
          </a:p>
          <a:p>
            <a:pPr lvl="1">
              <a:defRPr sz="1600"/>
            </a:pPr>
            <a:r>
              <a:rPr dirty="0"/>
              <a:t>}</a:t>
            </a:r>
          </a:p>
          <a:p>
            <a:pPr lvl="1">
              <a:defRPr sz="1600"/>
            </a:pPr>
            <a:r>
              <a:rPr dirty="0"/>
              <a:t>const double = </a:t>
            </a:r>
            <a:r>
              <a:rPr dirty="0" err="1"/>
              <a:t>createMultiplier</a:t>
            </a:r>
            <a:r>
              <a:rPr dirty="0"/>
              <a:t>(2);</a:t>
            </a:r>
          </a:p>
          <a:p>
            <a:pPr lvl="1">
              <a:defRPr sz="1600"/>
            </a:pPr>
            <a:r>
              <a:rPr dirty="0"/>
              <a:t>console.log(double(5)); // 10</a:t>
            </a:r>
          </a:p>
          <a:p>
            <a:pPr>
              <a:defRPr sz="1600"/>
            </a:pP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15. `this` in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600"/>
            </a:pPr>
            <a:r>
              <a:rPr dirty="0"/>
              <a:t>Inside a regular function, `this` refers to the object that called the function.</a:t>
            </a:r>
          </a:p>
          <a:p>
            <a:pPr lvl="1">
              <a:defRPr sz="1600"/>
            </a:pPr>
            <a:r>
              <a:rPr dirty="0"/>
              <a:t>const person = {</a:t>
            </a:r>
          </a:p>
          <a:p>
            <a:pPr lvl="1">
              <a:defRPr sz="1600"/>
            </a:pPr>
            <a:r>
              <a:rPr dirty="0"/>
              <a:t>  name: "Asha",</a:t>
            </a:r>
          </a:p>
          <a:p>
            <a:pPr lvl="1">
              <a:defRPr sz="1600"/>
            </a:pPr>
            <a:r>
              <a:rPr dirty="0"/>
              <a:t>  greet() {</a:t>
            </a:r>
          </a:p>
          <a:p>
            <a:pPr lvl="1">
              <a:defRPr sz="1600"/>
            </a:pPr>
            <a:r>
              <a:rPr dirty="0"/>
              <a:t>    console.log("Hello, " + this.name);</a:t>
            </a:r>
          </a:p>
          <a:p>
            <a:pPr lvl="1">
              <a:defRPr sz="1600"/>
            </a:pPr>
            <a:r>
              <a:rPr dirty="0"/>
              <a:t>  }</a:t>
            </a:r>
          </a:p>
          <a:p>
            <a:pPr lvl="1">
              <a:defRPr sz="1600"/>
            </a:pPr>
            <a:r>
              <a:rPr dirty="0"/>
              <a:t>};</a:t>
            </a:r>
          </a:p>
          <a:p>
            <a:pPr lvl="1">
              <a:defRPr sz="1600"/>
            </a:pPr>
            <a:r>
              <a:rPr dirty="0" err="1"/>
              <a:t>person.greet</a:t>
            </a:r>
            <a:r>
              <a:rPr dirty="0"/>
              <a:t>(); // Hello, Asha</a:t>
            </a:r>
          </a:p>
          <a:p>
            <a:pPr>
              <a:defRPr sz="1600"/>
            </a:pPr>
            <a:r>
              <a:rPr dirty="0"/>
              <a:t>In arrow functions, `this` is taken from the surrounding context (important in advanced cases).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16. Pure vs impure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600"/>
            </a:pPr>
            <a:r>
              <a:rPr dirty="0"/>
              <a:t>Pure function</a:t>
            </a:r>
            <a:r>
              <a:rPr lang="en-US" dirty="0"/>
              <a:t>:</a:t>
            </a:r>
            <a:endParaRPr dirty="0"/>
          </a:p>
          <a:p>
            <a:pPr>
              <a:defRPr sz="1600"/>
            </a:pPr>
            <a:r>
              <a:rPr dirty="0"/>
              <a:t>- Same input always gives same output.</a:t>
            </a:r>
          </a:p>
          <a:p>
            <a:pPr>
              <a:defRPr sz="1600"/>
            </a:pPr>
            <a:r>
              <a:rPr dirty="0"/>
              <a:t>- No side effects.</a:t>
            </a:r>
            <a:r>
              <a:rPr lang="en-US" dirty="0"/>
              <a:t> (</a:t>
            </a:r>
            <a:r>
              <a:rPr lang="en-IN" dirty="0"/>
              <a:t>I/O operations, User interface changes etc.)</a:t>
            </a:r>
            <a:endParaRPr dirty="0"/>
          </a:p>
          <a:p>
            <a:pPr lvl="1">
              <a:defRPr sz="1600"/>
            </a:pPr>
            <a:r>
              <a:rPr dirty="0"/>
              <a:t>function add(a, b) {</a:t>
            </a:r>
          </a:p>
          <a:p>
            <a:pPr lvl="1">
              <a:defRPr sz="1600"/>
            </a:pPr>
            <a:r>
              <a:rPr dirty="0"/>
              <a:t>  return a + b;</a:t>
            </a:r>
          </a:p>
          <a:p>
            <a:pPr lvl="1">
              <a:defRPr sz="1600"/>
            </a:pP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9DF5D-196B-9B91-61CD-FC2F7C96D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94B32-B354-E181-0314-4FCE182B6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16. Pure vs impure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DA60E-E8D9-61E6-F321-AB8F562A4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600"/>
            </a:pPr>
            <a:r>
              <a:rPr sz="2100" dirty="0"/>
              <a:t>Impure function</a:t>
            </a:r>
            <a:r>
              <a:rPr lang="en-US" sz="2100" dirty="0"/>
              <a:t>:</a:t>
            </a:r>
            <a:endParaRPr sz="2100" dirty="0"/>
          </a:p>
          <a:p>
            <a:pPr>
              <a:defRPr sz="1600"/>
            </a:pPr>
            <a:r>
              <a:rPr dirty="0"/>
              <a:t>- May change external state or depend on it.</a:t>
            </a:r>
          </a:p>
          <a:p>
            <a:pPr lvl="1">
              <a:defRPr sz="1600"/>
            </a:pPr>
            <a:r>
              <a:rPr dirty="0"/>
              <a:t>let counter = 0;</a:t>
            </a:r>
          </a:p>
          <a:p>
            <a:pPr lvl="1">
              <a:defRPr sz="1600"/>
            </a:pPr>
            <a:r>
              <a:rPr dirty="0"/>
              <a:t>function increment() {</a:t>
            </a:r>
          </a:p>
          <a:p>
            <a:pPr lvl="1">
              <a:defRPr sz="1600"/>
            </a:pPr>
            <a:r>
              <a:rPr dirty="0"/>
              <a:t>  counter++;</a:t>
            </a:r>
          </a:p>
          <a:p>
            <a:pPr lvl="1">
              <a:defRPr sz="1600"/>
            </a:pPr>
            <a:r>
              <a:rPr dirty="0"/>
              <a:t>  return counter;</a:t>
            </a:r>
          </a:p>
          <a:p>
            <a:pPr lvl="1">
              <a:defRPr sz="1600"/>
            </a:pPr>
            <a:r>
              <a:rPr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816886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17. Function arguments length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rPr dirty="0"/>
              <a:t>You can access the number of arguments passed using `arguments` (in regular functions).</a:t>
            </a:r>
          </a:p>
          <a:p>
            <a:pPr lvl="1">
              <a:defRPr sz="1600"/>
            </a:pPr>
            <a:r>
              <a:rPr dirty="0"/>
              <a:t>function </a:t>
            </a:r>
            <a:r>
              <a:rPr dirty="0" err="1"/>
              <a:t>showArgs</a:t>
            </a:r>
            <a:r>
              <a:rPr dirty="0"/>
              <a:t>() {</a:t>
            </a:r>
          </a:p>
          <a:p>
            <a:pPr lvl="1">
              <a:defRPr sz="1600"/>
            </a:pPr>
            <a:r>
              <a:rPr dirty="0"/>
              <a:t>  console.log(</a:t>
            </a:r>
            <a:r>
              <a:rPr dirty="0" err="1"/>
              <a:t>arguments.length</a:t>
            </a:r>
            <a:r>
              <a:rPr dirty="0"/>
              <a:t>);</a:t>
            </a:r>
          </a:p>
          <a:p>
            <a:pPr lvl="1">
              <a:defRPr sz="1600"/>
            </a:pPr>
            <a:r>
              <a:rPr dirty="0"/>
              <a:t>  console.log(arguments[0]);</a:t>
            </a:r>
          </a:p>
          <a:p>
            <a:pPr lvl="1">
              <a:defRPr sz="1600"/>
            </a:pPr>
            <a:r>
              <a:rPr dirty="0"/>
              <a:t>}</a:t>
            </a:r>
          </a:p>
          <a:p>
            <a:pPr lvl="1">
              <a:defRPr sz="1600"/>
            </a:pPr>
            <a:r>
              <a:rPr dirty="0" err="1"/>
              <a:t>showArgs</a:t>
            </a:r>
            <a:r>
              <a:rPr dirty="0"/>
              <a:t>(1, 2, 3);</a:t>
            </a:r>
          </a:p>
          <a:p>
            <a:pPr>
              <a:defRPr sz="1600"/>
            </a:pPr>
            <a:r>
              <a:rPr dirty="0"/>
              <a:t>Note: Arrow functions do not have `arguments`.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18. Recursion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rPr dirty="0"/>
              <a:t>A function that calls itself.</a:t>
            </a:r>
          </a:p>
          <a:p>
            <a:pPr lvl="1">
              <a:defRPr sz="1600"/>
            </a:pPr>
            <a:r>
              <a:rPr dirty="0"/>
              <a:t>function factorial(n) {</a:t>
            </a:r>
          </a:p>
          <a:p>
            <a:pPr lvl="1">
              <a:defRPr sz="1600"/>
            </a:pPr>
            <a:r>
              <a:rPr dirty="0"/>
              <a:t>  if (n === 1) return 1;</a:t>
            </a:r>
          </a:p>
          <a:p>
            <a:pPr lvl="1">
              <a:defRPr sz="1600"/>
            </a:pPr>
            <a:r>
              <a:rPr dirty="0"/>
              <a:t>  return n * factorial(n - 1);</a:t>
            </a:r>
          </a:p>
          <a:p>
            <a:pPr lvl="1">
              <a:defRPr sz="1600"/>
            </a:pPr>
            <a:r>
              <a:rPr dirty="0"/>
              <a:t>}</a:t>
            </a:r>
          </a:p>
          <a:p>
            <a:pPr lvl="1">
              <a:defRPr sz="1600"/>
            </a:pPr>
            <a:r>
              <a:rPr dirty="0"/>
              <a:t>console.log(factorial(5)); // 120</a:t>
            </a:r>
          </a:p>
          <a:p>
            <a:pPr>
              <a:defRPr sz="1600"/>
            </a:pPr>
            <a:r>
              <a:rPr dirty="0"/>
              <a:t>Useful for problems that can be broken into smaller versions of themselves.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19. Scope and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rPr dirty="0"/>
              <a:t>Variables declared inside a function are **function-scoped** (or block-scoped if using `let` / `const`).</a:t>
            </a:r>
          </a:p>
          <a:p>
            <a:pPr lvl="1">
              <a:defRPr sz="1600"/>
            </a:pPr>
            <a:r>
              <a:rPr dirty="0"/>
              <a:t>function test() {</a:t>
            </a:r>
          </a:p>
          <a:p>
            <a:pPr lvl="1">
              <a:defRPr sz="1600"/>
            </a:pPr>
            <a:r>
              <a:rPr dirty="0"/>
              <a:t>  let x = 10;</a:t>
            </a:r>
          </a:p>
          <a:p>
            <a:pPr lvl="1">
              <a:defRPr sz="1600"/>
            </a:pPr>
            <a:r>
              <a:rPr dirty="0"/>
              <a:t>  console.log(x); // works</a:t>
            </a:r>
          </a:p>
          <a:p>
            <a:pPr lvl="1">
              <a:defRPr sz="1600"/>
            </a:pPr>
            <a:r>
              <a:rPr dirty="0"/>
              <a:t>}</a:t>
            </a:r>
          </a:p>
          <a:p>
            <a:pPr lvl="1">
              <a:defRPr sz="1600"/>
            </a:pPr>
            <a:r>
              <a:rPr dirty="0"/>
              <a:t>console.log(x); // error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20. Common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 sz="1600"/>
            </a:pPr>
            <a:r>
              <a:rPr dirty="0"/>
              <a:t>#Utility function</a:t>
            </a:r>
          </a:p>
          <a:p>
            <a:pPr lvl="1">
              <a:defRPr sz="1600"/>
            </a:pPr>
            <a:r>
              <a:rPr dirty="0"/>
              <a:t>function </a:t>
            </a:r>
            <a:r>
              <a:rPr dirty="0" err="1"/>
              <a:t>formatCurrency</a:t>
            </a:r>
            <a:r>
              <a:rPr dirty="0"/>
              <a:t>(amount) {</a:t>
            </a:r>
          </a:p>
          <a:p>
            <a:pPr lvl="1">
              <a:defRPr sz="1600"/>
            </a:pPr>
            <a:r>
              <a:rPr dirty="0"/>
              <a:t>  return "$" + </a:t>
            </a:r>
            <a:r>
              <a:rPr dirty="0" err="1"/>
              <a:t>amount.toFixed</a:t>
            </a:r>
            <a:r>
              <a:rPr dirty="0"/>
              <a:t>(2);</a:t>
            </a:r>
          </a:p>
          <a:p>
            <a:pPr lvl="1">
              <a:defRPr sz="1600"/>
            </a:pPr>
            <a:r>
              <a:rPr dirty="0"/>
              <a:t>}</a:t>
            </a:r>
          </a:p>
          <a:p>
            <a:pPr>
              <a:defRPr sz="1600"/>
            </a:pPr>
            <a:r>
              <a:rPr dirty="0"/>
              <a:t>#Event handler</a:t>
            </a:r>
          </a:p>
          <a:p>
            <a:pPr lvl="1">
              <a:defRPr sz="1600"/>
            </a:pPr>
            <a:r>
              <a:rPr dirty="0" err="1"/>
              <a:t>button.addEventListener</a:t>
            </a:r>
            <a:r>
              <a:rPr dirty="0"/>
              <a:t>("click", function() {</a:t>
            </a:r>
          </a:p>
          <a:p>
            <a:pPr lvl="1">
              <a:defRPr sz="1600"/>
            </a:pPr>
            <a:r>
              <a:rPr dirty="0"/>
              <a:t>  console.log("Clicked");</a:t>
            </a:r>
          </a:p>
          <a:p>
            <a:pPr lvl="1">
              <a:defRPr sz="1600"/>
            </a:pPr>
            <a:r>
              <a:rPr dirty="0"/>
              <a:t>});</a:t>
            </a:r>
          </a:p>
          <a:p>
            <a:pPr>
              <a:defRPr sz="1600"/>
            </a:pPr>
            <a:r>
              <a:rPr dirty="0"/>
              <a:t>#Async function (with `async` / `await`)</a:t>
            </a:r>
          </a:p>
          <a:p>
            <a:pPr lvl="1">
              <a:defRPr sz="1600"/>
            </a:pPr>
            <a:r>
              <a:rPr dirty="0"/>
              <a:t>async function </a:t>
            </a:r>
            <a:r>
              <a:rPr dirty="0" err="1"/>
              <a:t>fetchData</a:t>
            </a:r>
            <a:r>
              <a:rPr dirty="0"/>
              <a:t>() {</a:t>
            </a:r>
          </a:p>
          <a:p>
            <a:pPr lvl="1">
              <a:defRPr sz="1600"/>
            </a:pPr>
            <a:r>
              <a:rPr dirty="0"/>
              <a:t>  let response = await fetch("https://api.example.com/data");</a:t>
            </a:r>
          </a:p>
          <a:p>
            <a:pPr lvl="1">
              <a:defRPr sz="1600"/>
            </a:pPr>
            <a:r>
              <a:rPr dirty="0"/>
              <a:t>  let data = await </a:t>
            </a:r>
            <a:r>
              <a:rPr dirty="0" err="1"/>
              <a:t>response.json</a:t>
            </a:r>
            <a:r>
              <a:rPr dirty="0"/>
              <a:t>();</a:t>
            </a:r>
          </a:p>
          <a:p>
            <a:pPr lvl="1">
              <a:defRPr sz="1600"/>
            </a:pPr>
            <a:r>
              <a:rPr dirty="0"/>
              <a:t>  return data;</a:t>
            </a:r>
          </a:p>
          <a:p>
            <a:pPr lvl="1">
              <a:defRPr sz="1600"/>
            </a:pP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21. Named vs anonymous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600"/>
            </a:pPr>
            <a:r>
              <a:rPr dirty="0"/>
              <a:t>#Named function</a:t>
            </a:r>
          </a:p>
          <a:p>
            <a:pPr lvl="1">
              <a:defRPr sz="1600"/>
            </a:pPr>
            <a:r>
              <a:rPr dirty="0"/>
              <a:t>function greet() {</a:t>
            </a:r>
          </a:p>
          <a:p>
            <a:pPr lvl="1">
              <a:defRPr sz="1600"/>
            </a:pPr>
            <a:r>
              <a:rPr dirty="0"/>
              <a:t>  console.log("Hello");</a:t>
            </a:r>
          </a:p>
          <a:p>
            <a:pPr lvl="1">
              <a:defRPr sz="1600"/>
            </a:pPr>
            <a:r>
              <a:rPr dirty="0"/>
              <a:t>}</a:t>
            </a:r>
          </a:p>
          <a:p>
            <a:pPr>
              <a:defRPr sz="1600"/>
            </a:pPr>
            <a:r>
              <a:rPr dirty="0"/>
              <a:t>#Anonymous function</a:t>
            </a:r>
          </a:p>
          <a:p>
            <a:pPr lvl="1">
              <a:defRPr sz="1600"/>
            </a:pPr>
            <a:r>
              <a:rPr dirty="0"/>
              <a:t>const greet = function() {</a:t>
            </a:r>
          </a:p>
          <a:p>
            <a:pPr lvl="1">
              <a:defRPr sz="1600"/>
            </a:pPr>
            <a:r>
              <a:rPr dirty="0"/>
              <a:t>  console.log("Hello");</a:t>
            </a:r>
          </a:p>
          <a:p>
            <a:pPr lvl="1">
              <a:defRPr sz="1600"/>
            </a:pPr>
            <a:r>
              <a:rPr dirty="0"/>
              <a:t>};</a:t>
            </a:r>
          </a:p>
          <a:p>
            <a:pPr>
              <a:defRPr sz="1600"/>
            </a:pPr>
            <a:r>
              <a:rPr dirty="0"/>
              <a:t>Named functions are easier to debug because the name appears in stack traces.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22.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rPr dirty="0"/>
              <a:t>A function stored as an object property is called a method</a:t>
            </a:r>
            <a:r>
              <a:rPr lang="en-US" dirty="0"/>
              <a:t>.</a:t>
            </a:r>
            <a:endParaRPr dirty="0"/>
          </a:p>
          <a:p>
            <a:pPr lvl="1">
              <a:defRPr sz="1600"/>
            </a:pPr>
            <a:r>
              <a:rPr dirty="0"/>
              <a:t>const calculator = {</a:t>
            </a:r>
          </a:p>
          <a:p>
            <a:pPr lvl="1">
              <a:defRPr sz="1600"/>
            </a:pPr>
            <a:r>
              <a:rPr dirty="0"/>
              <a:t>  add(a, b) {</a:t>
            </a:r>
          </a:p>
          <a:p>
            <a:pPr lvl="1">
              <a:defRPr sz="1600"/>
            </a:pPr>
            <a:r>
              <a:rPr dirty="0"/>
              <a:t>    return a + b;</a:t>
            </a:r>
          </a:p>
          <a:p>
            <a:pPr lvl="1">
              <a:defRPr sz="1600"/>
            </a:pPr>
            <a:r>
              <a:rPr dirty="0"/>
              <a:t>  }</a:t>
            </a:r>
          </a:p>
          <a:p>
            <a:pPr lvl="1">
              <a:defRPr sz="1600"/>
            </a:pPr>
            <a:r>
              <a:rPr dirty="0"/>
              <a:t>};</a:t>
            </a:r>
          </a:p>
          <a:p>
            <a:pPr lvl="1">
              <a:defRPr sz="1600"/>
            </a:pPr>
            <a:r>
              <a:rPr dirty="0"/>
              <a:t>console.log(</a:t>
            </a:r>
            <a:r>
              <a:rPr dirty="0" err="1"/>
              <a:t>calculator.add</a:t>
            </a:r>
            <a:r>
              <a:rPr dirty="0"/>
              <a:t>(2, 3));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23. Spread with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rPr dirty="0"/>
              <a:t>You can use the spread operator to pass array elements as arguments.</a:t>
            </a:r>
          </a:p>
          <a:p>
            <a:pPr lvl="1">
              <a:defRPr sz="1600"/>
            </a:pPr>
            <a:r>
              <a:rPr dirty="0"/>
              <a:t>function sum(a, b, c) {</a:t>
            </a:r>
          </a:p>
          <a:p>
            <a:pPr lvl="1">
              <a:defRPr sz="1600"/>
            </a:pPr>
            <a:r>
              <a:rPr dirty="0"/>
              <a:t>  return a + b + c;</a:t>
            </a:r>
          </a:p>
          <a:p>
            <a:pPr lvl="1">
              <a:defRPr sz="1600"/>
            </a:pPr>
            <a:r>
              <a:rPr dirty="0"/>
              <a:t>}</a:t>
            </a:r>
          </a:p>
          <a:p>
            <a:pPr lvl="1">
              <a:defRPr sz="1600"/>
            </a:pPr>
            <a:r>
              <a:rPr dirty="0"/>
              <a:t>let numbers = [1, 2, 3];</a:t>
            </a:r>
          </a:p>
          <a:p>
            <a:pPr lvl="1">
              <a:defRPr sz="1600"/>
            </a:pPr>
            <a:r>
              <a:rPr dirty="0"/>
              <a:t>console.log(sum(...numbers)); // 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rPr dirty="0"/>
              <a:t>Functions are reusable blocks of code.</a:t>
            </a:r>
          </a:p>
          <a:p>
            <a:pPr>
              <a:defRPr sz="1600"/>
            </a:pPr>
            <a:r>
              <a:rPr dirty="0"/>
              <a:t>They can take parameters and return values.</a:t>
            </a:r>
          </a:p>
          <a:p>
            <a:pPr>
              <a:defRPr sz="1600"/>
            </a:pPr>
            <a:r>
              <a:rPr dirty="0"/>
              <a:t>Types: declaration, expression, arrow, </a:t>
            </a:r>
            <a:r>
              <a:rPr dirty="0" err="1"/>
              <a:t>IIFE</a:t>
            </a:r>
            <a:r>
              <a:rPr dirty="0"/>
              <a:t>, higher-order, callback, recursive.</a:t>
            </a:r>
          </a:p>
          <a:p>
            <a:pPr>
              <a:defRPr sz="1600"/>
            </a:pPr>
            <a:r>
              <a:rPr dirty="0"/>
              <a:t>Features: default parameters, rest parameters, spread, `this`, scope, hoisting.</a:t>
            </a:r>
          </a:p>
          <a:p>
            <a:pPr>
              <a:defRPr sz="1600"/>
            </a:pPr>
            <a:r>
              <a:rPr dirty="0"/>
              <a:t>Used in almost every part of JavaScript, from simple utilities to complex applications.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19D7B-4C88-5C8E-82ED-F82188272B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73088" indent="0" algn="ctr">
              <a:buNone/>
            </a:pPr>
            <a:r>
              <a:rPr lang="en-US" sz="9600" dirty="0"/>
              <a:t>Thank You</a:t>
            </a:r>
            <a:endParaRPr lang="en-IN" sz="9600" dirty="0"/>
          </a:p>
        </p:txBody>
      </p:sp>
    </p:spTree>
    <p:extLst>
      <p:ext uri="{BB962C8B-B14F-4D97-AF65-F5344CB8AC3E}">
        <p14:creationId xmlns:p14="http://schemas.microsoft.com/office/powerpoint/2010/main" val="85277062"/>
      </p:ext>
    </p:extLst>
  </p:cSld>
  <p:clrMapOvr>
    <a:masterClrMapping/>
  </p:clrMapOvr>
</p:sld>
</file>

<file path=ppt/theme/theme1.xml><?xml version="1.0" encoding="utf-8"?>
<a:theme xmlns:a="http://schemas.openxmlformats.org/drawingml/2006/main" name="ABC Final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BC Final Theme" id="{671380DE-0F6A-48AA-BCBD-DD1332E66760}" vid="{BFD2BD10-29C3-40AA-8AC4-FE51644B68EC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254</TotalTime>
  <Words>1507</Words>
  <Application>Microsoft Office PowerPoint</Application>
  <PresentationFormat>Widescreen</PresentationFormat>
  <Paragraphs>225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IBM Plex Sans</vt:lpstr>
      <vt:lpstr>Quicksand</vt:lpstr>
      <vt:lpstr>ABC Final Theme</vt:lpstr>
      <vt:lpstr>JavaScript Functions</vt:lpstr>
      <vt:lpstr>1. What is a function?</vt:lpstr>
      <vt:lpstr>2. Function declaration</vt:lpstr>
      <vt:lpstr>Parts of a function declaration</vt:lpstr>
      <vt:lpstr>3. Function call</vt:lpstr>
      <vt:lpstr>4. Parameters and arguments</vt:lpstr>
      <vt:lpstr>5. Return statement</vt:lpstr>
      <vt:lpstr>6. Function expression</vt:lpstr>
      <vt:lpstr>6. Function expression</vt:lpstr>
      <vt:lpstr>7. Arrow functions*****</vt:lpstr>
      <vt:lpstr>8. Default parameters</vt:lpstr>
      <vt:lpstr>9. Rest parameters</vt:lpstr>
      <vt:lpstr>10. IIFE (Immediately Invoked Function Expression)</vt:lpstr>
      <vt:lpstr>11. Function hoisting</vt:lpstr>
      <vt:lpstr>12. Higher-order functions***</vt:lpstr>
      <vt:lpstr>13. Callback functions***</vt:lpstr>
      <vt:lpstr>14. Functions returning functions**</vt:lpstr>
      <vt:lpstr>15. `this` in functions</vt:lpstr>
      <vt:lpstr>16. Pure vs impure functions</vt:lpstr>
      <vt:lpstr>16. Pure vs impure functions</vt:lpstr>
      <vt:lpstr>17. Function arguments length</vt:lpstr>
      <vt:lpstr>18. Recursion</vt:lpstr>
      <vt:lpstr>19. Scope and functions</vt:lpstr>
      <vt:lpstr>20. Common patterns</vt:lpstr>
      <vt:lpstr>21. Named vs anonymous functions</vt:lpstr>
      <vt:lpstr>22. Methods</vt:lpstr>
      <vt:lpstr>23. Spread with functions</vt:lpstr>
      <vt:lpstr>Summary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Rakesh Kr</cp:lastModifiedBy>
  <cp:revision>22</cp:revision>
  <dcterms:created xsi:type="dcterms:W3CDTF">2013-01-27T09:14:16Z</dcterms:created>
  <dcterms:modified xsi:type="dcterms:W3CDTF">2026-07-23T12:33:23Z</dcterms:modified>
  <cp:category/>
</cp:coreProperties>
</file>