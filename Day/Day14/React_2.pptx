
<file path=[Content_Types].xml><?xml version="1.0" encoding="utf-8"?>
<Types xmlns="http://schemas.openxmlformats.org/package/2006/content-types">
  <Default Extension="bin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1" r:id="rId16"/>
    <p:sldId id="272" r:id="rId17"/>
    <p:sldId id="273" r:id="rId18"/>
    <p:sldId id="274" r:id="rId19"/>
    <p:sldId id="277" r:id="rId20"/>
    <p:sldId id="278" r:id="rId21"/>
    <p:sldId id="279" r:id="rId22"/>
    <p:sldId id="280" r:id="rId23"/>
    <p:sldId id="281" r:id="rId24"/>
    <p:sldId id="282" r:id="rId25"/>
    <p:sldId id="283" r:id="rId26"/>
    <p:sldId id="284" r:id="rId27"/>
    <p:sldId id="285" r:id="rId28"/>
    <p:sldId id="286" r:id="rId29"/>
    <p:sldId id="287" r:id="rId30"/>
    <p:sldId id="288" r:id="rId31"/>
    <p:sldId id="300" r:id="rId3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9" d="100"/>
          <a:sy n="89" d="100"/>
        </p:scale>
        <p:origin x="360" y="7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D544E5-7EA9-A00F-222A-D4EFD78DEFF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4F15C68-2B3F-571A-7DF0-7D84C2B5203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324CA8-D6DB-E063-9105-674BE4F578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B9F916-4B1C-3D95-33C8-9363A83D51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33C38B-70AE-5980-A3CD-A4ECE0FE4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79889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E2B496-8638-954D-4D09-C97F3AC8E1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F1CEC1-09D0-ABCF-EC32-672B8E2C1C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  <a:prstGeom prst="roundRect">
            <a:avLst>
              <a:gd name="adj" fmla="val 4177"/>
            </a:avLst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B72C83-063E-4D70-4E31-94AF427212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31F97A-D64B-7236-A706-E421802512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D059C3-F302-3320-7EC0-1110229FD3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60828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B003E3-9AC9-6E4D-2CA7-E9B5F60664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2B9BBAA-7735-4006-4526-51F26B538BD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325614-D125-39B8-FA07-FF17A1E776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01BEE3-EE59-8FAC-294A-B32FAE5632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1334F7-18E4-AD6F-99B3-E81880B243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25433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B34CF3-3D4D-C273-8CCD-5EAD909597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A1182B-98E8-AA42-1A59-7EFEA90A808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418EEEB-B32D-8CC9-16A6-554B5027B91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80709EF-B791-2EEA-36E2-38104C124C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715842E-6F3A-A85B-6D53-65B5AE8C2E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AEBD62-29A1-2911-ADF8-F8BCCA8032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30784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DD5427-74A9-5ED8-7773-0A9D0520D4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5FBD954-6CF1-9CE6-CACF-455F6CC77E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318FDFA-E79B-681D-21E4-8E6CB44C99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3421589-80D3-F4DE-2BF3-EF09A5477DA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0954D82-8EA7-380F-7522-B00F34C5AA0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5AFC3FA-8362-05F0-1E84-C69C84DCA3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0F4058C-EFDC-73FA-7296-F85EE350D7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0CFA4C7-97BF-BB6D-558A-3F9C45D217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68286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093F998-5CFD-9FFA-739A-73D9D616D1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36F2A18-A0A1-3DF4-CA91-995A773C67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8E8E93-DC20-D6E7-8A2C-80486A532A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1052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8D7E1B-3550-3840-CD6B-54BC1D478A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4AA294-D019-64D6-420D-13887C4481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16530B7-90A7-3613-AC11-A4CB41AF5E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B3F1F35-E180-2D84-1260-3DD835132F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044B64A-BFA1-F5FA-CA69-5D81434A25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A10EBEF-E358-2D3D-A2F9-B6EB3A1BF3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58977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5252C4-2991-64A8-3E05-2F2A11D187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F9B7D28-C3EE-DA99-F6DF-A1DC180A7EE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E57CCCF-DEC8-7499-A7D2-878197E245C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E9535CF-242A-22B4-F764-120A337153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96783F1-76D6-C1A9-D67F-2FB6140739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BA694F2-6D19-29F7-3336-F3AE37B775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30717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8C3A7F-4EF9-67FA-EE14-171F15FA0D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43C73FB-80A5-F9CD-8920-45772AC4BF4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795C18-2C1E-842B-417A-C5BB0492DE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F08207-1CD2-27A0-E167-60E3A40371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1D08D8-2F64-5C6E-959B-A18A7017F4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32071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8B9B0B3-0B63-BDB9-ED7B-5690C538CD1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AB7BFFE-AAD6-8C50-43D9-A990F625613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5AC6E2-04DF-6DEE-3397-2F511BB833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FD5E37-2472-4004-E51E-65D6D8A006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F1BAC8-106B-CFB9-8D4B-11A9E7D753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92657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Only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69AFC7-5A92-11DE-9403-A24DCCB904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6287" y="1443517"/>
            <a:ext cx="10515600" cy="1325563"/>
          </a:xfrm>
        </p:spPr>
        <p:txBody>
          <a:bodyPr/>
          <a:lstStyle>
            <a:lvl1pPr>
              <a:defRPr b="1">
                <a:solidFill>
                  <a:schemeClr val="tx1"/>
                </a:solidFill>
                <a:latin typeface="Quicksand" pitchFamily="2" charset="0"/>
              </a:defRPr>
            </a:lvl1pPr>
          </a:lstStyle>
          <a:p>
            <a:r>
              <a:rPr lang="en-US"/>
              <a:t>Click to edit Master title style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415A780-312C-AC19-25E9-5A8A6C0B7D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2474604"/>
      </p:ext>
    </p:extLst>
  </p:cSld>
  <p:clrMapOvr>
    <a:masterClrMapping/>
  </p:clrMapOvr>
  <p:transition spd="slow">
    <p:push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bin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bin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Rect">
            <a:extLst>
              <a:ext uri="{FF2B5EF4-FFF2-40B4-BE49-F238E27FC236}">
                <a16:creationId xmlns:a16="http://schemas.microsoft.com/office/drawing/2014/main" id="{1CEABFB7-0E55-6B42-07AC-811A73351439}"/>
              </a:ext>
            </a:extLst>
          </p:cNvPr>
          <p:cNvPicPr>
            <a:picLocks noChangeAspect="1"/>
          </p:cNvPicPr>
          <p:nvPr/>
        </p:nvPicPr>
        <p:blipFill rotWithShape="1">
          <a:blip r:embed="rId13">
            <a:alphaModFix/>
          </a:blip>
          <a:stretch/>
        </p:blipFill>
        <p:spPr>
          <a:xfrm>
            <a:off x="0" y="0"/>
            <a:ext cx="10601325" cy="1420273"/>
          </a:xfrm>
          <a:prstGeom prst="rect">
            <a:avLst/>
          </a:prstGeom>
        </p:spPr>
      </p:pic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B3DBBF8-B311-9293-FDF3-4A284D9FB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4132" y="9471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0C9F6C6-73A5-0E7A-7077-E131FC32C6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oundRect">
            <a:avLst>
              <a:gd name="adj" fmla="val 4177"/>
            </a:avLst>
          </a:prstGeom>
          <a:solidFill>
            <a:srgbClr val="DDE4F8"/>
          </a:solidFill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 Third level</a:t>
            </a:r>
          </a:p>
          <a:p>
            <a:pPr lvl="3"/>
            <a:r>
              <a:rPr lang="en-US" dirty="0"/>
              <a:t> Fourth level</a:t>
            </a:r>
          </a:p>
          <a:p>
            <a:pPr lvl="4"/>
            <a:r>
              <a:rPr lang="en-US" dirty="0"/>
              <a:t> Fifth level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C7E770-D3AD-DCE7-4035-43C1F5E4930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1A65FE-6E8B-5A92-BCDE-6641812534D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337AEF-085A-A1E4-5D23-50EC9146D0A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layoutShapeInnerChild1">
            <a:extLst>
              <a:ext uri="{FF2B5EF4-FFF2-40B4-BE49-F238E27FC236}">
                <a16:creationId xmlns:a16="http://schemas.microsoft.com/office/drawing/2014/main" id="{5DE74BB6-3FFA-3BBE-C247-88A534B93E63}"/>
              </a:ext>
            </a:extLst>
          </p:cNvPr>
          <p:cNvPicPr>
            <a:picLocks noChangeAspect="1"/>
          </p:cNvPicPr>
          <p:nvPr/>
        </p:nvPicPr>
        <p:blipFill rotWithShape="1">
          <a:blip r:embed="rId14">
            <a:alphaModFix/>
            <a:extLst>
              <a:ext uri="{899FBA48-7B2C-474C-B2AE-7FA3B76AA679}">
                <a14:useLocalDpi xmlns="" xmlns:a16="http://schemas.microsoft.com/office/drawing/2014/main" xmlns:asvg="http://schemas.microsoft.com/office/drawing/2016/SVG/main" xmlns:p14="http://schemas.microsoft.com/office/powerpoint/2010/main" xmlns:a14="http://schemas.microsoft.com/office/drawing/2010/main" val="0"/>
              </a:ext>
            </a:extLst>
          </a:blip>
          <a:srcRect t="-261" b="-261"/>
          <a:stretch/>
        </p:blipFill>
        <p:spPr>
          <a:xfrm>
            <a:off x="11743019" y="329183"/>
            <a:ext cx="448981" cy="8970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0247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5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2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3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2" grpId="0"/>
      <p:bldP spid="3" grpId="0" uiExpand="1" build="p" animBg="1">
        <p:tmplLst>
          <p:tmpl>
            <p:tnLst>
              <p:par>
                <p:cTn presetID="42" presetClass="entr" presetSubtype="0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1000"/>
                        <p:tgtEl>
                          <p:spTgt spid="3"/>
                        </p:tgtEl>
                      </p:cBhvr>
                    </p:animEffect>
                    <p:anim calcmode="lin" valueType="num">
                      <p:cBhvr>
                        <p:cTn dur="1000" fill="hold"/>
                        <p:tgtEl>
                          <p:spTgt spid="3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#ppt_x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>
                        <p:cTn dur="1000" fill="hold"/>
                        <p:tgtEl>
                          <p:spTgt spid="3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#ppt_y+.1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  <p:tmpl lvl="1">
            <p:tnLst>
              <p:par>
                <p:cTn presetID="42" presetClass="entr" presetSubtype="0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1000"/>
                        <p:tgtEl>
                          <p:spTgt spid="3"/>
                        </p:tgtEl>
                      </p:cBhvr>
                    </p:animEffect>
                    <p:anim calcmode="lin" valueType="num">
                      <p:cBhvr>
                        <p:cTn dur="1000" fill="hold"/>
                        <p:tgtEl>
                          <p:spTgt spid="3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#ppt_x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>
                        <p:cTn dur="1000" fill="hold"/>
                        <p:tgtEl>
                          <p:spTgt spid="3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#ppt_y+.1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  <p:tmpl lvl="2">
            <p:tnLst>
              <p:par>
                <p:cTn presetID="42" presetClass="entr" presetSubtype="0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1000"/>
                        <p:tgtEl>
                          <p:spTgt spid="3"/>
                        </p:tgtEl>
                      </p:cBhvr>
                    </p:animEffect>
                    <p:anim calcmode="lin" valueType="num">
                      <p:cBhvr>
                        <p:cTn dur="1000" fill="hold"/>
                        <p:tgtEl>
                          <p:spTgt spid="3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#ppt_x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>
                        <p:cTn dur="1000" fill="hold"/>
                        <p:tgtEl>
                          <p:spTgt spid="3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#ppt_y+.1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  <p:tmpl lvl="3">
            <p:tnLst>
              <p:par>
                <p:cTn presetID="42" presetClass="entr" presetSubtype="0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1000"/>
                        <p:tgtEl>
                          <p:spTgt spid="3"/>
                        </p:tgtEl>
                      </p:cBhvr>
                    </p:animEffect>
                    <p:anim calcmode="lin" valueType="num">
                      <p:cBhvr>
                        <p:cTn dur="1000" fill="hold"/>
                        <p:tgtEl>
                          <p:spTgt spid="3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#ppt_x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>
                        <p:cTn dur="1000" fill="hold"/>
                        <p:tgtEl>
                          <p:spTgt spid="3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#ppt_y+.1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  <p:tmpl lvl="4">
            <p:tnLst>
              <p:par>
                <p:cTn presetID="42" presetClass="entr" presetSubtype="0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1000"/>
                        <p:tgtEl>
                          <p:spTgt spid="3"/>
                        </p:tgtEl>
                      </p:cBhvr>
                    </p:animEffect>
                    <p:anim calcmode="lin" valueType="num">
                      <p:cBhvr>
                        <p:cTn dur="1000" fill="hold"/>
                        <p:tgtEl>
                          <p:spTgt spid="3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#ppt_x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>
                        <p:cTn dur="1000" fill="hold"/>
                        <p:tgtEl>
                          <p:spTgt spid="3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#ppt_y+.1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  <p:tmpl lvl="5">
            <p:tnLst>
              <p:par>
                <p:cTn presetID="42" presetClass="entr" presetSubtype="0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1000"/>
                        <p:tgtEl>
                          <p:spTgt spid="3"/>
                        </p:tgtEl>
                      </p:cBhvr>
                    </p:animEffect>
                    <p:anim calcmode="lin" valueType="num">
                      <p:cBhvr>
                        <p:cTn dur="1000" fill="hold"/>
                        <p:tgtEl>
                          <p:spTgt spid="3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#ppt_x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>
                        <p:cTn dur="1000" fill="hold"/>
                        <p:tgtEl>
                          <p:spTgt spid="3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#ppt_y+.1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8" grpId="0"/>
    </p:bldLst>
  </p:timing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bg1"/>
          </a:solidFill>
          <a:latin typeface="Quicksand" pitchFamily="2" charset="0"/>
          <a:ea typeface="+mj-ea"/>
          <a:cs typeface="+mj-cs"/>
        </a:defRPr>
      </a:lvl1pPr>
    </p:titleStyle>
    <p:bodyStyle>
      <a:lvl1pPr marL="801688" indent="-228600" algn="l" defTabSz="914400" rtl="0" eaLnBrk="1" latinLnBrk="0" hangingPunct="1">
        <a:lnSpc>
          <a:spcPct val="150000"/>
        </a:lnSpc>
        <a:spcBef>
          <a:spcPts val="1000"/>
        </a:spcBef>
        <a:buClr>
          <a:srgbClr val="204ECF"/>
        </a:buClr>
        <a:buFontTx/>
        <a:buChar char="●"/>
        <a:tabLst>
          <a:tab pos="361950" algn="l"/>
          <a:tab pos="449263" algn="l"/>
        </a:tabLst>
        <a:defRPr sz="2000" b="1" kern="1200">
          <a:solidFill>
            <a:schemeClr val="tx1"/>
          </a:solidFill>
          <a:latin typeface="Quicksand" pitchFamily="2" charset="0"/>
          <a:ea typeface="+mn-ea"/>
          <a:cs typeface="+mn-cs"/>
        </a:defRPr>
      </a:lvl1pPr>
      <a:lvl2pPr marL="1258888" indent="-228600" algn="l" defTabSz="914400" rtl="0" eaLnBrk="1" latinLnBrk="0" hangingPunct="1">
        <a:lnSpc>
          <a:spcPct val="150000"/>
        </a:lnSpc>
        <a:spcBef>
          <a:spcPts val="500"/>
        </a:spcBef>
        <a:buClr>
          <a:srgbClr val="204ECF"/>
        </a:buClr>
        <a:buFontTx/>
        <a:buChar char="●"/>
        <a:tabLst>
          <a:tab pos="361950" algn="l"/>
          <a:tab pos="449263" algn="l"/>
        </a:tabLst>
        <a:defRPr sz="2000" kern="1200">
          <a:solidFill>
            <a:schemeClr val="tx1"/>
          </a:solidFill>
          <a:latin typeface="IBM Plex Sans" panose="020B0503050203000203" pitchFamily="34" charset="0"/>
          <a:ea typeface="+mn-ea"/>
          <a:cs typeface="+mn-cs"/>
        </a:defRPr>
      </a:lvl2pPr>
      <a:lvl3pPr marL="1614488" indent="-228600" algn="l" defTabSz="914400" rtl="0" eaLnBrk="1" latinLnBrk="0" hangingPunct="1">
        <a:lnSpc>
          <a:spcPct val="150000"/>
        </a:lnSpc>
        <a:spcBef>
          <a:spcPts val="500"/>
        </a:spcBef>
        <a:buClr>
          <a:srgbClr val="204ECF"/>
        </a:buClr>
        <a:buFontTx/>
        <a:buChar char="●"/>
        <a:tabLst>
          <a:tab pos="361950" algn="l"/>
          <a:tab pos="449263" algn="l"/>
        </a:tabLst>
        <a:defRPr sz="2000" kern="1200">
          <a:solidFill>
            <a:schemeClr val="tx1"/>
          </a:solidFill>
          <a:latin typeface="IBM Plex Sans" panose="020B0503050203000203" pitchFamily="34" charset="0"/>
          <a:ea typeface="+mn-ea"/>
          <a:cs typeface="+mn-cs"/>
        </a:defRPr>
      </a:lvl3pPr>
      <a:lvl4pPr marL="1884363" indent="-228600" algn="l" defTabSz="914400" rtl="0" eaLnBrk="1" latinLnBrk="0" hangingPunct="1">
        <a:lnSpc>
          <a:spcPct val="150000"/>
        </a:lnSpc>
        <a:spcBef>
          <a:spcPts val="500"/>
        </a:spcBef>
        <a:buClr>
          <a:srgbClr val="204ECF"/>
        </a:buClr>
        <a:buFontTx/>
        <a:buChar char="●"/>
        <a:tabLst>
          <a:tab pos="361950" algn="l"/>
          <a:tab pos="449263" algn="l"/>
        </a:tabLst>
        <a:defRPr sz="2000" kern="1200">
          <a:solidFill>
            <a:schemeClr val="tx1"/>
          </a:solidFill>
          <a:latin typeface="IBM Plex Sans" panose="020B0503050203000203" pitchFamily="34" charset="0"/>
          <a:ea typeface="+mn-ea"/>
          <a:cs typeface="+mn-cs"/>
        </a:defRPr>
      </a:lvl4pPr>
      <a:lvl5pPr marL="2155825" indent="-228600" algn="l" defTabSz="914400" rtl="0" eaLnBrk="1" latinLnBrk="0" hangingPunct="1">
        <a:lnSpc>
          <a:spcPct val="150000"/>
        </a:lnSpc>
        <a:spcBef>
          <a:spcPts val="500"/>
        </a:spcBef>
        <a:buClr>
          <a:srgbClr val="204ECF"/>
        </a:buClr>
        <a:buFontTx/>
        <a:buChar char="●"/>
        <a:tabLst>
          <a:tab pos="361950" algn="l"/>
          <a:tab pos="449263" algn="l"/>
        </a:tabLst>
        <a:defRPr sz="2000" kern="1200">
          <a:solidFill>
            <a:schemeClr val="tx1"/>
          </a:solidFill>
          <a:latin typeface="IBM Plex Sans" panose="020B0503050203000203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>
                <a:solidFill>
                  <a:schemeClr val="tx1"/>
                </a:solidFill>
              </a:rPr>
              <a:t>React Concepts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React Lists and Keys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defRPr sz="2000"/>
            </a:pPr>
            <a:r>
              <a:rPr dirty="0"/>
              <a:t>What is a list in React?</a:t>
            </a:r>
          </a:p>
          <a:p>
            <a:pPr>
              <a:defRPr sz="2000"/>
            </a:pPr>
            <a:r>
              <a:rPr dirty="0"/>
              <a:t>In React, a list is simply a collection of items you want to render on the</a:t>
            </a:r>
            <a:br>
              <a:rPr dirty="0"/>
            </a:br>
            <a:r>
              <a:rPr dirty="0"/>
              <a:t>screen, such as:</a:t>
            </a:r>
          </a:p>
          <a:p>
            <a:pPr lvl="1">
              <a:defRPr sz="2000"/>
            </a:pPr>
            <a:r>
              <a:rPr dirty="0"/>
              <a:t>A list of users.</a:t>
            </a:r>
          </a:p>
          <a:p>
            <a:pPr lvl="1">
              <a:defRPr sz="2000"/>
            </a:pPr>
            <a:r>
              <a:rPr dirty="0"/>
              <a:t>A list of products.</a:t>
            </a:r>
          </a:p>
          <a:p>
            <a:pPr lvl="1">
              <a:defRPr sz="2000"/>
            </a:pPr>
            <a:r>
              <a:rPr dirty="0"/>
              <a:t>A list of tasks or messages.</a:t>
            </a:r>
          </a:p>
          <a:p>
            <a:pPr>
              <a:defRPr sz="2000"/>
            </a:pPr>
            <a:r>
              <a:rPr dirty="0"/>
              <a:t>You usually create lists by using the JavaScript map() method to loop through an</a:t>
            </a:r>
            <a:r>
              <a:rPr lang="en-US" dirty="0"/>
              <a:t> </a:t>
            </a:r>
            <a:r>
              <a:rPr dirty="0"/>
              <a:t>array and return JSX for each item.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React Lists and Keys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rPr dirty="0"/>
              <a:t>What is a key?</a:t>
            </a:r>
          </a:p>
          <a:p>
            <a:pPr>
              <a:defRPr sz="2000"/>
            </a:pPr>
            <a:r>
              <a:rPr dirty="0"/>
              <a:t>A key is a special key prop you give to each element inside a list</a:t>
            </a:r>
            <a:r>
              <a:rPr lang="en-US" dirty="0"/>
              <a:t>; Unique</a:t>
            </a:r>
            <a:r>
              <a:rPr dirty="0"/>
              <a:t>. </a:t>
            </a:r>
            <a:endParaRPr lang="en-US" dirty="0"/>
          </a:p>
          <a:p>
            <a:pPr>
              <a:defRPr sz="2000"/>
            </a:pPr>
            <a:r>
              <a:rPr dirty="0"/>
              <a:t>It helps</a:t>
            </a:r>
            <a:r>
              <a:rPr lang="en-US" dirty="0"/>
              <a:t> </a:t>
            </a:r>
            <a:r>
              <a:rPr dirty="0"/>
              <a:t>React identify which items have changed, been added, or removed.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React uses keys to: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rPr dirty="0"/>
              <a:t>Track each item’s identity.</a:t>
            </a:r>
          </a:p>
          <a:p>
            <a:pPr>
              <a:defRPr sz="2000"/>
            </a:pPr>
            <a:r>
              <a:rPr dirty="0"/>
              <a:t>Update only the items that changed.</a:t>
            </a:r>
          </a:p>
          <a:p>
            <a:pPr>
              <a:defRPr sz="2000"/>
            </a:pPr>
            <a:r>
              <a:rPr dirty="0"/>
              <a:t>Avoid re-rendering the entire list unnecessarily.</a:t>
            </a:r>
          </a:p>
          <a:p>
            <a:pPr>
              <a:defRPr sz="2000"/>
            </a:pPr>
            <a:r>
              <a:rPr dirty="0"/>
              <a:t>Keep the UI in sync when items are added, removed, or reordered.</a:t>
            </a:r>
          </a:p>
          <a:p>
            <a:pPr>
              <a:defRPr sz="2000"/>
            </a:pPr>
            <a:r>
              <a:rPr dirty="0"/>
              <a:t>Without keys, or with bad keys, React might mix up items and re-render more than</a:t>
            </a:r>
            <a:r>
              <a:rPr lang="en-US" dirty="0"/>
              <a:t> </a:t>
            </a:r>
            <a:r>
              <a:rPr dirty="0"/>
              <a:t>needed, which can hurt performance and cause bugs.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Best practices for keys: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rPr dirty="0"/>
              <a:t>Use a unique, stable ID from your data (e.g., user.id, post.id).</a:t>
            </a:r>
          </a:p>
          <a:p>
            <a:pPr>
              <a:defRPr sz="2000"/>
            </a:pPr>
            <a:r>
              <a:rPr dirty="0"/>
              <a:t>The key should not change between renders.</a:t>
            </a:r>
          </a:p>
          <a:p>
            <a:pPr>
              <a:defRPr sz="2000"/>
            </a:pPr>
            <a:r>
              <a:rPr dirty="0"/>
              <a:t>Keys must be unique among siblings in the same list.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sz="4000" dirty="0"/>
              <a:t>If the list can change, using index can cause: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rPr dirty="0"/>
              <a:t>Wrong items to be updated.</a:t>
            </a:r>
          </a:p>
          <a:p>
            <a:pPr>
              <a:defRPr sz="2000"/>
            </a:pPr>
            <a:r>
              <a:rPr dirty="0"/>
              <a:t>Performance issues.</a:t>
            </a:r>
          </a:p>
          <a:p>
            <a:pPr>
              <a:defRPr sz="2000"/>
            </a:pPr>
            <a:r>
              <a:rPr dirty="0"/>
              <a:t>Strange UI bugs.</a:t>
            </a:r>
          </a:p>
          <a:p>
            <a:pPr>
              <a:defRPr sz="2000"/>
            </a:pPr>
            <a:r>
              <a:rPr dirty="0"/>
              <a:t>So, prefer stable IDs over index whenever possible.</a:t>
            </a:r>
          </a:p>
          <a:p>
            <a:pPr>
              <a:defRPr sz="2000"/>
            </a:pPr>
            <a:r>
              <a:rPr dirty="0"/>
              <a:t>Simple analogy</a:t>
            </a:r>
            <a:r>
              <a:rPr lang="en-US" dirty="0"/>
              <a:t>: </a:t>
            </a:r>
            <a:r>
              <a:rPr dirty="0"/>
              <a:t>Imagine a classroom with students sitting in rows.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sz="3600" dirty="0"/>
              <a:t>If the list can change, using index can cause: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rPr dirty="0"/>
              <a:t>Each student has a name tag (the key).</a:t>
            </a:r>
          </a:p>
          <a:p>
            <a:pPr>
              <a:defRPr sz="2000"/>
            </a:pPr>
            <a:r>
              <a:rPr dirty="0"/>
              <a:t>If a student leaves or a new one joins, the teacher uses the name tags to know</a:t>
            </a:r>
            <a:br>
              <a:rPr dirty="0"/>
            </a:br>
            <a:r>
              <a:rPr dirty="0"/>
              <a:t>exactly who changed.</a:t>
            </a:r>
          </a:p>
          <a:p>
            <a:pPr>
              <a:defRPr sz="2000"/>
            </a:pPr>
            <a:r>
              <a:rPr dirty="0"/>
              <a:t>Without name tags, the teacher might get confused about who is who.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rPr dirty="0"/>
              <a:t>Students = list items.</a:t>
            </a:r>
          </a:p>
          <a:p>
            <a:pPr>
              <a:defRPr sz="2000"/>
            </a:pPr>
            <a:r>
              <a:rPr dirty="0"/>
              <a:t>Name tags = keys.</a:t>
            </a:r>
          </a:p>
          <a:p>
            <a:pPr>
              <a:defRPr sz="2000"/>
            </a:pPr>
            <a:r>
              <a:rPr dirty="0"/>
              <a:t>Teacher = React.</a:t>
            </a:r>
          </a:p>
          <a:p>
            <a:pPr>
              <a:defRPr sz="2000"/>
            </a:pPr>
            <a:r>
              <a:rPr dirty="0"/>
              <a:t>Key points to remember</a:t>
            </a:r>
          </a:p>
          <a:p>
            <a:pPr>
              <a:defRPr sz="2000"/>
            </a:pPr>
            <a:r>
              <a:rPr dirty="0"/>
              <a:t>Use map() to render lists in React.</a:t>
            </a:r>
          </a:p>
          <a:p>
            <a:pPr>
              <a:defRPr sz="2000"/>
            </a:pPr>
            <a:r>
              <a:rPr dirty="0"/>
              <a:t>Always add a key prop to each item in the list.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rPr dirty="0"/>
              <a:t>Use a unique, stable ID (like id) as the key.</a:t>
            </a:r>
          </a:p>
          <a:p>
            <a:pPr>
              <a:defRPr sz="2000"/>
            </a:pPr>
            <a:r>
              <a:rPr dirty="0"/>
              <a:t>Avoid using array index as a key if the list can change.</a:t>
            </a:r>
          </a:p>
          <a:p>
            <a:pPr>
              <a:defRPr sz="2000"/>
            </a:pPr>
            <a:r>
              <a:rPr dirty="0"/>
              <a:t>Keys help React update the UI efficiently and correctly.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sz="3200" dirty="0"/>
              <a:t>React Hooks (</a:t>
            </a:r>
            <a:r>
              <a:rPr sz="3200" dirty="0" err="1"/>
              <a:t>useState</a:t>
            </a:r>
            <a:r>
              <a:rPr sz="3200" dirty="0"/>
              <a:t>, </a:t>
            </a:r>
            <a:r>
              <a:rPr sz="3200" dirty="0" err="1"/>
              <a:t>useEffect</a:t>
            </a:r>
            <a:r>
              <a:rPr sz="3200" dirty="0"/>
              <a:t>, </a:t>
            </a:r>
            <a:r>
              <a:rPr sz="3200" dirty="0" err="1"/>
              <a:t>useContext</a:t>
            </a:r>
            <a:r>
              <a:rPr sz="3200" dirty="0"/>
              <a:t>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>
              <a:defRPr sz="2000"/>
            </a:pPr>
            <a:r>
              <a:rPr dirty="0"/>
              <a:t>What are React Hooks?</a:t>
            </a:r>
          </a:p>
          <a:p>
            <a:pPr>
              <a:defRPr sz="2000"/>
            </a:pPr>
            <a:r>
              <a:rPr dirty="0"/>
              <a:t>React Hooks are special functions that let you use React features like state,</a:t>
            </a:r>
            <a:br>
              <a:rPr dirty="0"/>
            </a:br>
            <a:r>
              <a:rPr dirty="0"/>
              <a:t>side effects, and shared data inside function components. </a:t>
            </a:r>
            <a:endParaRPr lang="en-US" dirty="0"/>
          </a:p>
          <a:p>
            <a:pPr>
              <a:defRPr sz="2000"/>
            </a:pPr>
            <a:r>
              <a:rPr dirty="0"/>
              <a:t>Before Hooks, these</a:t>
            </a:r>
            <a:br>
              <a:rPr dirty="0"/>
            </a:br>
            <a:r>
              <a:rPr dirty="0"/>
              <a:t>features were mostly available in class components. Hooks make function</a:t>
            </a:r>
            <a:br>
              <a:rPr dirty="0"/>
            </a:br>
            <a:r>
              <a:rPr dirty="0"/>
              <a:t>components more powerful and easier to use.</a:t>
            </a:r>
          </a:p>
          <a:p>
            <a:pPr marL="573088" indent="0">
              <a:buNone/>
              <a:defRPr sz="2000"/>
            </a:pPr>
            <a:r>
              <a:rPr dirty="0"/>
              <a:t>1. </a:t>
            </a:r>
            <a:r>
              <a:rPr dirty="0" err="1"/>
              <a:t>useState</a:t>
            </a:r>
            <a:r>
              <a:rPr dirty="0"/>
              <a:t> – Managing local state</a:t>
            </a:r>
          </a:p>
          <a:p>
            <a:pPr>
              <a:defRPr sz="2000"/>
            </a:pPr>
            <a:r>
              <a:rPr dirty="0" err="1"/>
              <a:t>useState</a:t>
            </a:r>
            <a:r>
              <a:rPr dirty="0"/>
              <a:t> is a Hook that lets </a:t>
            </a:r>
            <a:r>
              <a:rPr u="sng" dirty="0"/>
              <a:t>functional components </a:t>
            </a:r>
            <a:r>
              <a:rPr dirty="0"/>
              <a:t>store and update state. It</a:t>
            </a:r>
            <a:br>
              <a:rPr dirty="0"/>
            </a:br>
            <a:r>
              <a:rPr dirty="0"/>
              <a:t>returns two values:</a:t>
            </a:r>
          </a:p>
          <a:p>
            <a:pPr>
              <a:defRPr sz="2000"/>
            </a:pPr>
            <a:r>
              <a:rPr dirty="0"/>
              <a:t>The current state value.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React Hooks (</a:t>
            </a:r>
            <a:r>
              <a:rPr dirty="0" err="1"/>
              <a:t>useState</a:t>
            </a:r>
            <a:r>
              <a:rPr dirty="0"/>
              <a:t>, </a:t>
            </a:r>
            <a:r>
              <a:rPr dirty="0" err="1"/>
              <a:t>useEffect</a:t>
            </a:r>
            <a:r>
              <a:rPr dirty="0"/>
              <a:t>, </a:t>
            </a:r>
            <a:r>
              <a:rPr dirty="0" err="1"/>
              <a:t>useContext</a:t>
            </a:r>
            <a:r>
              <a:rPr dirty="0"/>
              <a:t>)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defRPr sz="2000"/>
            </a:pPr>
            <a:r>
              <a:rPr dirty="0"/>
              <a:t>A function to update that state.</a:t>
            </a:r>
          </a:p>
          <a:p>
            <a:pPr>
              <a:defRPr sz="2000"/>
            </a:pPr>
            <a:r>
              <a:rPr dirty="0"/>
              <a:t>Whenever you call the update function, React re-renders the component with the</a:t>
            </a:r>
            <a:r>
              <a:rPr lang="en-US" dirty="0"/>
              <a:t> </a:t>
            </a:r>
            <a:r>
              <a:rPr dirty="0"/>
              <a:t>new value.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React Hooks (useState, useEffect, useContext)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573088" indent="0">
              <a:buNone/>
              <a:defRPr sz="2000"/>
            </a:pPr>
            <a:r>
              <a:rPr dirty="0"/>
              <a:t>2. </a:t>
            </a:r>
            <a:r>
              <a:rPr dirty="0" err="1"/>
              <a:t>useEffect</a:t>
            </a:r>
            <a:r>
              <a:rPr dirty="0"/>
              <a:t> – Handling side effects</a:t>
            </a:r>
          </a:p>
          <a:p>
            <a:pPr>
              <a:defRPr sz="2000"/>
            </a:pPr>
            <a:r>
              <a:rPr dirty="0" err="1"/>
              <a:t>useEffect</a:t>
            </a:r>
            <a:r>
              <a:rPr dirty="0"/>
              <a:t> is a Hook that lets you run side effects in function components. Side</a:t>
            </a:r>
            <a:r>
              <a:rPr lang="en-US" dirty="0"/>
              <a:t> </a:t>
            </a:r>
            <a:r>
              <a:rPr dirty="0"/>
              <a:t>effects are things like:</a:t>
            </a:r>
          </a:p>
          <a:p>
            <a:pPr>
              <a:defRPr sz="2000"/>
            </a:pPr>
            <a:r>
              <a:rPr dirty="0"/>
              <a:t>Fetching data from an API.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React Hooks (useState, useEffect, useContext)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rPr dirty="0"/>
              <a:t>Setting up timers.</a:t>
            </a:r>
          </a:p>
          <a:p>
            <a:pPr>
              <a:defRPr sz="2000"/>
            </a:pPr>
            <a:r>
              <a:rPr dirty="0"/>
              <a:t>Subscribing to events.</a:t>
            </a:r>
          </a:p>
          <a:p>
            <a:pPr>
              <a:defRPr sz="2000"/>
            </a:pPr>
            <a:r>
              <a:rPr dirty="0"/>
              <a:t>Cleaning up when a component unmounts.</a:t>
            </a:r>
          </a:p>
          <a:p>
            <a:pPr>
              <a:defRPr sz="2000"/>
            </a:pPr>
            <a:r>
              <a:rPr dirty="0"/>
              <a:t>It runs after the component renders. </a:t>
            </a:r>
            <a:endParaRPr lang="en-US" dirty="0"/>
          </a:p>
          <a:p>
            <a:pPr>
              <a:defRPr sz="2000"/>
            </a:pPr>
            <a:r>
              <a:rPr dirty="0"/>
              <a:t>You can control when it runs using a</a:t>
            </a:r>
            <a:r>
              <a:rPr lang="en-US" dirty="0"/>
              <a:t> </a:t>
            </a:r>
            <a:r>
              <a:rPr dirty="0"/>
              <a:t>dependency array.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React Hooks (useState, useEffect, useContext)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573088" indent="0">
              <a:buNone/>
              <a:defRPr sz="2000"/>
            </a:pPr>
            <a:r>
              <a:rPr dirty="0"/>
              <a:t>3. </a:t>
            </a:r>
            <a:r>
              <a:rPr dirty="0" err="1"/>
              <a:t>useContext</a:t>
            </a:r>
            <a:r>
              <a:rPr dirty="0"/>
              <a:t> – Sharing data globally</a:t>
            </a:r>
          </a:p>
          <a:p>
            <a:pPr>
              <a:defRPr sz="2000"/>
            </a:pPr>
            <a:r>
              <a:rPr dirty="0" err="1"/>
              <a:t>useContext</a:t>
            </a:r>
            <a:r>
              <a:rPr dirty="0"/>
              <a:t> is a Hook that lets functional components read values from a React</a:t>
            </a:r>
            <a:r>
              <a:rPr lang="en-US" dirty="0"/>
              <a:t> </a:t>
            </a:r>
            <a:r>
              <a:rPr dirty="0"/>
              <a:t>Context. </a:t>
            </a:r>
            <a:endParaRPr lang="en-US" dirty="0"/>
          </a:p>
          <a:p>
            <a:pPr>
              <a:defRPr sz="2000"/>
            </a:pPr>
            <a:r>
              <a:rPr dirty="0"/>
              <a:t>It allows you to share data (like themes, user info, or settings)</a:t>
            </a:r>
            <a:r>
              <a:rPr lang="en-US" dirty="0"/>
              <a:t> </a:t>
            </a:r>
            <a:r>
              <a:rPr dirty="0"/>
              <a:t>across many components without passing props manually through every level.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Why these three hooks matters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rPr dirty="0" err="1"/>
              <a:t>useState</a:t>
            </a:r>
            <a:r>
              <a:rPr dirty="0"/>
              <a:t> → how components remember and change data.</a:t>
            </a:r>
          </a:p>
          <a:p>
            <a:pPr>
              <a:defRPr sz="2000"/>
            </a:pPr>
            <a:r>
              <a:rPr dirty="0" err="1"/>
              <a:t>useEffect</a:t>
            </a:r>
            <a:r>
              <a:rPr dirty="0"/>
              <a:t> → how components handle background tasks and data fetching.</a:t>
            </a:r>
          </a:p>
          <a:p>
            <a:pPr>
              <a:defRPr sz="2000"/>
            </a:pPr>
            <a:r>
              <a:rPr dirty="0" err="1"/>
              <a:t>useContext</a:t>
            </a:r>
            <a:r>
              <a:rPr dirty="0"/>
              <a:t> → how components share data without prop drilling.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Together, they cover: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Local state.</a:t>
            </a:r>
          </a:p>
          <a:p>
            <a:pPr>
              <a:defRPr sz="2000"/>
            </a:pPr>
            <a:r>
              <a:t>Side effects.</a:t>
            </a:r>
          </a:p>
          <a:p>
            <a:pPr>
              <a:defRPr sz="2000"/>
            </a:pPr>
            <a:r>
              <a:t>Global/shared state.</a:t>
            </a:r>
          </a:p>
          <a:p>
            <a:pPr>
              <a:defRPr sz="2000"/>
            </a:pPr>
            <a:r>
              <a:t>These are the foundation for almost all real-world React apps.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Forms in React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>
              <a:defRPr sz="2000"/>
            </a:pPr>
            <a:r>
              <a:rPr dirty="0"/>
              <a:t>In React, forms work similarly to regular HTML forms, but you typically manage</a:t>
            </a:r>
            <a:br>
              <a:rPr dirty="0"/>
            </a:br>
            <a:r>
              <a:rPr dirty="0"/>
              <a:t>their values using React state. </a:t>
            </a:r>
            <a:endParaRPr lang="en-US" dirty="0"/>
          </a:p>
          <a:p>
            <a:pPr>
              <a:defRPr sz="2000"/>
            </a:pPr>
            <a:r>
              <a:rPr dirty="0"/>
              <a:t>This pattern is called controlled components,</a:t>
            </a:r>
            <a:r>
              <a:rPr lang="en-US" dirty="0"/>
              <a:t> </a:t>
            </a:r>
            <a:r>
              <a:rPr dirty="0"/>
              <a:t>where the form input’s value is controlled by React state rather than the DOM</a:t>
            </a:r>
            <a:r>
              <a:rPr lang="en-US" dirty="0"/>
              <a:t> </a:t>
            </a:r>
            <a:r>
              <a:rPr dirty="0"/>
              <a:t>itself. </a:t>
            </a:r>
            <a:endParaRPr lang="en-US" dirty="0"/>
          </a:p>
          <a:p>
            <a:pPr>
              <a:defRPr sz="2000"/>
            </a:pPr>
            <a:r>
              <a:rPr dirty="0"/>
              <a:t>React handles form data, validation, and submission through state and</a:t>
            </a:r>
            <a:br>
              <a:rPr dirty="0"/>
            </a:br>
            <a:r>
              <a:rPr dirty="0"/>
              <a:t>event handlers.</a:t>
            </a:r>
          </a:p>
          <a:p>
            <a:pPr>
              <a:defRPr sz="2000"/>
            </a:pPr>
            <a:r>
              <a:rPr dirty="0"/>
              <a:t>Key points:</a:t>
            </a:r>
          </a:p>
          <a:p>
            <a:pPr>
              <a:defRPr sz="2000"/>
            </a:pPr>
            <a:r>
              <a:rPr dirty="0"/>
              <a:t>Controlled components use value and </a:t>
            </a:r>
            <a:r>
              <a:rPr dirty="0" err="1"/>
              <a:t>onChange</a:t>
            </a:r>
            <a:r>
              <a:rPr dirty="0"/>
              <a:t> to sync input with state.</a:t>
            </a:r>
          </a:p>
          <a:p>
            <a:pPr>
              <a:defRPr sz="2000"/>
            </a:pPr>
            <a:r>
              <a:rPr dirty="0"/>
              <a:t>You can use one state object for all fields or separate state for each.</a:t>
            </a:r>
          </a:p>
          <a:p>
            <a:pPr>
              <a:defRPr sz="2000"/>
            </a:pPr>
            <a:r>
              <a:rPr dirty="0"/>
              <a:t>Validation is done by checking values before or during submission.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Forms in React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rPr dirty="0"/>
              <a:t>Forms are submitted via </a:t>
            </a:r>
            <a:r>
              <a:rPr dirty="0" err="1"/>
              <a:t>onSubmit</a:t>
            </a:r>
            <a:r>
              <a:rPr dirty="0"/>
              <a:t> with </a:t>
            </a:r>
            <a:r>
              <a:rPr dirty="0" err="1"/>
              <a:t>event.preventDefault</a:t>
            </a:r>
            <a:r>
              <a:rPr dirty="0"/>
              <a:t>() to stop page</a:t>
            </a:r>
            <a:br>
              <a:rPr dirty="0"/>
            </a:br>
            <a:r>
              <a:rPr dirty="0"/>
              <a:t>reload.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rPr dirty="0"/>
              <a:t>In a controlled form, React “knows” the current value of every input because</a:t>
            </a:r>
            <a:r>
              <a:rPr lang="en-US" dirty="0"/>
              <a:t> </a:t>
            </a:r>
            <a:r>
              <a:rPr dirty="0"/>
              <a:t>it’s stored in state.</a:t>
            </a:r>
          </a:p>
          <a:p>
            <a:pPr>
              <a:defRPr sz="2000"/>
            </a:pPr>
            <a:r>
              <a:rPr dirty="0"/>
              <a:t>Every change updates the state, and React keeps the UI in sync.</a:t>
            </a:r>
          </a:p>
          <a:p>
            <a:pPr>
              <a:defRPr sz="2000"/>
            </a:pPr>
            <a:r>
              <a:rPr dirty="0"/>
              <a:t>Without this, it’s like a chef guessing ingredient amounts — error-prone and</a:t>
            </a:r>
            <a:br>
              <a:rPr dirty="0"/>
            </a:br>
            <a:r>
              <a:rPr dirty="0"/>
              <a:t>hard to control.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 React, you would: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rPr dirty="0"/>
              <a:t>Store each field in state (or one state object).</a:t>
            </a:r>
          </a:p>
          <a:p>
            <a:pPr>
              <a:defRPr sz="2000"/>
            </a:pPr>
            <a:r>
              <a:rPr dirty="0"/>
              <a:t>Update state on every change.</a:t>
            </a:r>
          </a:p>
          <a:p>
            <a:pPr>
              <a:defRPr sz="2000"/>
            </a:pPr>
            <a:r>
              <a:rPr dirty="0"/>
              <a:t>Validate fields (e.g., email format, password length).</a:t>
            </a:r>
          </a:p>
          <a:p>
            <a:pPr>
              <a:defRPr sz="2000"/>
            </a:pPr>
            <a:r>
              <a:rPr dirty="0"/>
              <a:t>Show error messages if validation fails.</a:t>
            </a:r>
          </a:p>
          <a:p>
            <a:pPr>
              <a:defRPr sz="2000"/>
            </a:pPr>
            <a:r>
              <a:rPr dirty="0"/>
              <a:t>Only submit when all fields are valid.</a:t>
            </a:r>
          </a:p>
          <a:p>
            <a:pPr marL="573088" indent="0">
              <a:buNone/>
              <a:defRPr sz="2000"/>
            </a:pPr>
            <a:r>
              <a:rPr dirty="0"/>
              <a:t>1. Handling form inputs (controlled components)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 React, you would: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>
              <a:defRPr sz="2000"/>
            </a:pPr>
            <a:r>
              <a:rPr dirty="0"/>
              <a:t>What it means</a:t>
            </a:r>
          </a:p>
          <a:p>
            <a:pPr>
              <a:defRPr sz="2000"/>
            </a:pPr>
            <a:r>
              <a:rPr dirty="0"/>
              <a:t>A </a:t>
            </a:r>
            <a:r>
              <a:rPr u="sng" dirty="0"/>
              <a:t>controlled component </a:t>
            </a:r>
            <a:r>
              <a:rPr dirty="0"/>
              <a:t>is a form input whose value is controlled by React state.</a:t>
            </a:r>
            <a:r>
              <a:rPr lang="en-US" dirty="0"/>
              <a:t> </a:t>
            </a:r>
            <a:r>
              <a:rPr dirty="0"/>
              <a:t>You set the value prop and update it using </a:t>
            </a:r>
            <a:r>
              <a:rPr dirty="0" err="1"/>
              <a:t>onChange</a:t>
            </a:r>
            <a:r>
              <a:rPr dirty="0"/>
              <a:t>.</a:t>
            </a:r>
          </a:p>
          <a:p>
            <a:pPr marL="573088" indent="0">
              <a:buNone/>
              <a:defRPr sz="2000"/>
            </a:pPr>
            <a:r>
              <a:rPr dirty="0"/>
              <a:t>2. Form validation basics</a:t>
            </a:r>
          </a:p>
          <a:p>
            <a:pPr>
              <a:defRPr sz="2000"/>
            </a:pPr>
            <a:r>
              <a:rPr dirty="0"/>
              <a:t>What it means</a:t>
            </a:r>
          </a:p>
          <a:p>
            <a:pPr>
              <a:defRPr sz="2000"/>
            </a:pPr>
            <a:r>
              <a:rPr dirty="0"/>
              <a:t>Form validation ensures user input meets certain rules before submission, like:</a:t>
            </a:r>
          </a:p>
          <a:p>
            <a:pPr>
              <a:defRPr sz="2000"/>
            </a:pPr>
            <a:r>
              <a:rPr dirty="0"/>
              <a:t>Required fields not empty.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 React, you would: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Email in correct format.</a:t>
            </a:r>
          </a:p>
          <a:p>
            <a:pPr>
              <a:defRPr sz="2000"/>
            </a:pPr>
            <a:r>
              <a:t>Password long enough.</a:t>
            </a:r>
          </a:p>
          <a:p>
            <a:pPr>
              <a:defRPr sz="2000"/>
            </a:pPr>
            <a:r>
              <a:t>Confirm password matches.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You can validate: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rPr dirty="0"/>
              <a:t>On change (as user types).</a:t>
            </a:r>
          </a:p>
          <a:p>
            <a:pPr>
              <a:defRPr sz="2000"/>
            </a:pPr>
            <a:r>
              <a:rPr dirty="0"/>
              <a:t>On blur (when input loses focus).</a:t>
            </a:r>
          </a:p>
          <a:p>
            <a:pPr>
              <a:defRPr sz="2000"/>
            </a:pPr>
            <a:r>
              <a:rPr dirty="0"/>
              <a:t>On submit (when user clicks submit).</a:t>
            </a:r>
          </a:p>
          <a:p>
            <a:pPr marL="573088" indent="0">
              <a:buNone/>
              <a:defRPr sz="2000"/>
            </a:pPr>
            <a:r>
              <a:rPr dirty="0"/>
              <a:t>3. Handling multiple inputs in one form</a:t>
            </a:r>
          </a:p>
          <a:p>
            <a:pPr>
              <a:defRPr sz="2000"/>
            </a:pPr>
            <a:r>
              <a:rPr dirty="0"/>
              <a:t>What it means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When a form has many fields, you can: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rPr dirty="0"/>
              <a:t>Use one state object to hold all values.</a:t>
            </a:r>
          </a:p>
          <a:p>
            <a:pPr>
              <a:defRPr sz="2000"/>
            </a:pPr>
            <a:r>
              <a:rPr dirty="0"/>
              <a:t>Use name attributes to identify each field.</a:t>
            </a:r>
          </a:p>
          <a:p>
            <a:pPr>
              <a:defRPr sz="2000"/>
            </a:pPr>
            <a:r>
              <a:rPr dirty="0"/>
              <a:t>Update the correct field using [name]: value.</a:t>
            </a:r>
          </a:p>
          <a:p>
            <a:pPr marL="573088" indent="0">
              <a:buNone/>
              <a:defRPr sz="2000"/>
            </a:pPr>
            <a:r>
              <a:rPr dirty="0"/>
              <a:t>4. Submitting forms (with or without libraries)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Basic submission pattern: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rPr dirty="0"/>
              <a:t>Use </a:t>
            </a:r>
            <a:r>
              <a:rPr dirty="0" err="1"/>
              <a:t>onSubmit</a:t>
            </a:r>
            <a:r>
              <a:rPr dirty="0"/>
              <a:t> on &lt;form&gt;.</a:t>
            </a:r>
          </a:p>
          <a:p>
            <a:pPr>
              <a:defRPr sz="2000"/>
            </a:pPr>
            <a:r>
              <a:rPr dirty="0"/>
              <a:t>Call </a:t>
            </a:r>
            <a:r>
              <a:rPr dirty="0" err="1"/>
              <a:t>event.preventDefault</a:t>
            </a:r>
            <a:r>
              <a:rPr dirty="0"/>
              <a:t>() to stop page reload.</a:t>
            </a:r>
          </a:p>
          <a:p>
            <a:pPr>
              <a:defRPr sz="2000"/>
            </a:pPr>
            <a:r>
              <a:rPr dirty="0"/>
              <a:t>Use state values to process or send data.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sz="3600" dirty="0"/>
              <a:t>Libraries like React Hook Form, </a:t>
            </a:r>
            <a:r>
              <a:rPr sz="3600" dirty="0" err="1"/>
              <a:t>Formik</a:t>
            </a:r>
            <a:r>
              <a:rPr sz="3600" dirty="0"/>
              <a:t>, or Zod help with: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Managing form state.</a:t>
            </a:r>
          </a:p>
          <a:p>
            <a:pPr>
              <a:defRPr sz="2000"/>
            </a:pPr>
            <a:r>
              <a:t>Validation schemas.</a:t>
            </a:r>
          </a:p>
          <a:p>
            <a:pPr>
              <a:defRPr sz="2000"/>
            </a:pPr>
            <a:r>
              <a:t>Error handling.</a:t>
            </a:r>
          </a:p>
          <a:p>
            <a:pPr>
              <a:defRPr sz="2000"/>
            </a:pPr>
            <a:r>
              <a:t>Performance optimizations.</a:t>
            </a:r>
          </a:p>
          <a:p>
            <a:pPr>
              <a:defRPr sz="2000"/>
            </a:pPr>
            <a:r>
              <a:t>You still use onSubmit, but the library handles more logic for you.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Forms are how users: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rPr dirty="0"/>
              <a:t>Sign up and log in.</a:t>
            </a:r>
          </a:p>
          <a:p>
            <a:pPr>
              <a:defRPr sz="2000"/>
            </a:pPr>
            <a:r>
              <a:rPr dirty="0"/>
              <a:t>Search and filter.</a:t>
            </a:r>
          </a:p>
          <a:p>
            <a:pPr>
              <a:defRPr sz="2000"/>
            </a:pPr>
            <a:r>
              <a:rPr dirty="0"/>
              <a:t>Submit feedback or orders.</a:t>
            </a:r>
          </a:p>
          <a:p>
            <a:pPr>
              <a:defRPr sz="2000"/>
            </a:pPr>
            <a:r>
              <a:rPr dirty="0"/>
              <a:t>Change settings.</a:t>
            </a:r>
          </a:p>
          <a:p>
            <a:pPr>
              <a:defRPr sz="2000"/>
            </a:pPr>
            <a:r>
              <a:rPr dirty="0" err="1"/>
              <a:t>React’s</a:t>
            </a:r>
            <a:r>
              <a:rPr dirty="0"/>
              <a:t> controlled pattern makes forms predictable, easier to validate, and</a:t>
            </a:r>
            <a:br>
              <a:rPr dirty="0"/>
            </a:br>
            <a:r>
              <a:rPr dirty="0"/>
              <a:t>tightly integrated with state and UI.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Key points to remember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Use controlled components for most forms.</a:t>
            </a:r>
          </a:p>
          <a:p>
            <a:pPr>
              <a:defRPr sz="2000"/>
            </a:pPr>
            <a:r>
              <a:t>Store form values in state.</a:t>
            </a:r>
          </a:p>
          <a:p>
            <a:pPr>
              <a:defRPr sz="2000"/>
            </a:pPr>
            <a:r>
              <a:t>Update state on change.</a:t>
            </a:r>
          </a:p>
          <a:p>
            <a:pPr>
              <a:defRPr sz="2000"/>
            </a:pPr>
            <a:r>
              <a:t>Validate inputs before submission.</a:t>
            </a:r>
          </a:p>
          <a:p>
            <a:pPr>
              <a:defRPr sz="2000"/>
            </a:pPr>
            <a:r>
              <a:t>Use onSubmit with preventDefault().</a:t>
            </a:r>
          </a:p>
          <a:p>
            <a:pPr>
              <a:defRPr sz="2000"/>
            </a:pPr>
            <a:r>
              <a:t>You can use libraries, but core pattern is simple and powerful.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sz="3600" dirty="0"/>
              <a:t>Fetching Data &amp; Side Effects in React (using GitHub API)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defRPr sz="2000"/>
            </a:pPr>
            <a:r>
              <a:rPr dirty="0"/>
              <a:t>In React, side effects are operations that happen outside the normal rendering</a:t>
            </a:r>
            <a:r>
              <a:rPr lang="en-US" dirty="0"/>
              <a:t> </a:t>
            </a:r>
            <a:r>
              <a:rPr dirty="0"/>
              <a:t>flow, such as:</a:t>
            </a:r>
          </a:p>
          <a:p>
            <a:pPr lvl="1">
              <a:defRPr sz="2000"/>
            </a:pPr>
            <a:r>
              <a:rPr dirty="0"/>
              <a:t>Fetching data from an API.</a:t>
            </a:r>
          </a:p>
          <a:p>
            <a:pPr lvl="1">
              <a:defRPr sz="2000"/>
            </a:pPr>
            <a:r>
              <a:rPr dirty="0"/>
              <a:t>Setting up timers or subscriptions.</a:t>
            </a:r>
          </a:p>
          <a:p>
            <a:pPr lvl="1">
              <a:defRPr sz="2000"/>
            </a:pPr>
            <a:r>
              <a:rPr dirty="0"/>
              <a:t>Updating the document title.</a:t>
            </a:r>
          </a:p>
          <a:p>
            <a:pPr lvl="1">
              <a:defRPr sz="2000"/>
            </a:pPr>
            <a:r>
              <a:rPr dirty="0"/>
              <a:t>Calling external services.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sz="3200" dirty="0"/>
              <a:t>Fetching Data &amp; Side Effects in React (using GitHub API)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>
              <a:defRPr sz="2000"/>
            </a:pPr>
            <a:r>
              <a:rPr dirty="0"/>
              <a:t>The </a:t>
            </a:r>
            <a:r>
              <a:rPr dirty="0" err="1"/>
              <a:t>useEffect</a:t>
            </a:r>
            <a:r>
              <a:rPr dirty="0"/>
              <a:t> Hook is used to run these side effects in function components. For</a:t>
            </a:r>
            <a:br>
              <a:rPr dirty="0"/>
            </a:br>
            <a:r>
              <a:rPr dirty="0"/>
              <a:t>data fetching, you typically call an API inside </a:t>
            </a:r>
            <a:r>
              <a:rPr dirty="0" err="1"/>
              <a:t>useEffect</a:t>
            </a:r>
            <a:r>
              <a:rPr dirty="0"/>
              <a:t>, store the result in</a:t>
            </a:r>
            <a:br>
              <a:rPr dirty="0"/>
            </a:br>
            <a:r>
              <a:rPr dirty="0"/>
              <a:t>state, and handle loading and error states to give users feedback.</a:t>
            </a:r>
          </a:p>
          <a:p>
            <a:pPr>
              <a:defRPr sz="2000"/>
            </a:pPr>
            <a:r>
              <a:rPr dirty="0"/>
              <a:t>Key points:</a:t>
            </a:r>
          </a:p>
          <a:p>
            <a:pPr lvl="1">
              <a:defRPr sz="2000"/>
            </a:pPr>
            <a:r>
              <a:rPr dirty="0"/>
              <a:t>Use </a:t>
            </a:r>
            <a:r>
              <a:rPr dirty="0" err="1"/>
              <a:t>useState</a:t>
            </a:r>
            <a:r>
              <a:rPr dirty="0"/>
              <a:t> for data, loading, and error states.</a:t>
            </a:r>
          </a:p>
          <a:p>
            <a:pPr lvl="1">
              <a:defRPr sz="2000"/>
            </a:pPr>
            <a:r>
              <a:rPr dirty="0"/>
              <a:t>Use </a:t>
            </a:r>
            <a:r>
              <a:rPr dirty="0" err="1"/>
              <a:t>useEffect</a:t>
            </a:r>
            <a:r>
              <a:rPr dirty="0"/>
              <a:t> to start the fetch when the component mounts or when dependencies</a:t>
            </a:r>
            <a:r>
              <a:rPr lang="en-US" dirty="0"/>
              <a:t> </a:t>
            </a:r>
            <a:r>
              <a:rPr dirty="0"/>
              <a:t>change.</a:t>
            </a:r>
          </a:p>
          <a:p>
            <a:pPr lvl="1">
              <a:defRPr sz="2000"/>
            </a:pPr>
            <a:r>
              <a:rPr dirty="0"/>
              <a:t>Show a loading indicator while fetching.</a:t>
            </a:r>
          </a:p>
          <a:p>
            <a:pPr lvl="1">
              <a:defRPr sz="2000"/>
            </a:pPr>
            <a:r>
              <a:rPr dirty="0"/>
              <a:t>Show an error message if the request fails.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sz="3600" dirty="0"/>
              <a:t>Almost every real React app needs to: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defRPr sz="2000"/>
            </a:pPr>
            <a:r>
              <a:rPr dirty="0"/>
              <a:t>Load data from APIs.</a:t>
            </a:r>
          </a:p>
          <a:p>
            <a:pPr>
              <a:defRPr sz="2000"/>
            </a:pPr>
            <a:r>
              <a:rPr dirty="0"/>
              <a:t>Show loading indicators.</a:t>
            </a:r>
          </a:p>
          <a:p>
            <a:pPr>
              <a:defRPr sz="2000"/>
            </a:pPr>
            <a:r>
              <a:rPr dirty="0"/>
              <a:t>Handle errors gracefully.</a:t>
            </a:r>
          </a:p>
          <a:p>
            <a:pPr>
              <a:defRPr sz="2000"/>
            </a:pPr>
            <a:r>
              <a:rPr dirty="0"/>
              <a:t>Re-fetch when parameters change.</a:t>
            </a:r>
          </a:p>
          <a:p>
            <a:pPr>
              <a:defRPr sz="2000"/>
            </a:pPr>
            <a:r>
              <a:rPr dirty="0"/>
              <a:t>Using </a:t>
            </a:r>
            <a:r>
              <a:rPr dirty="0" err="1"/>
              <a:t>useEffect</a:t>
            </a:r>
            <a:r>
              <a:rPr dirty="0"/>
              <a:t> with proper loading and error handling makes </a:t>
            </a:r>
            <a:br>
              <a:rPr lang="en-US" dirty="0"/>
            </a:br>
            <a:r>
              <a:rPr dirty="0"/>
              <a:t>your app feel</a:t>
            </a:r>
            <a:r>
              <a:rPr lang="en-US" dirty="0"/>
              <a:t> </a:t>
            </a:r>
            <a:r>
              <a:rPr dirty="0"/>
              <a:t>polished and reliable. </a:t>
            </a:r>
            <a:endParaRPr lang="en-US" dirty="0"/>
          </a:p>
          <a:p>
            <a:pPr>
              <a:defRPr sz="2000"/>
            </a:pPr>
            <a:r>
              <a:rPr dirty="0"/>
              <a:t>Custom hooks make this logic reusable across many</a:t>
            </a:r>
            <a:r>
              <a:rPr lang="en-US" dirty="0"/>
              <a:t> </a:t>
            </a:r>
            <a:r>
              <a:rPr dirty="0"/>
              <a:t>components.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BC Final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BC Final Theme" id="{671380DE-0F6A-48AA-BCBD-DD1332E66760}" vid="{BFD2BD10-29C3-40AA-8AC4-FE51644B68EC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ABC Final Theme</Template>
  <TotalTime>412</TotalTime>
  <Words>1536</Words>
  <Application>Microsoft Office PowerPoint</Application>
  <PresentationFormat>Widescreen</PresentationFormat>
  <Paragraphs>159</Paragraphs>
  <Slides>31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6" baseType="lpstr">
      <vt:lpstr>Arial</vt:lpstr>
      <vt:lpstr>Calibri</vt:lpstr>
      <vt:lpstr>IBM Plex Sans</vt:lpstr>
      <vt:lpstr>Quicksand</vt:lpstr>
      <vt:lpstr>ABC Final Theme</vt:lpstr>
      <vt:lpstr>React Concepts</vt:lpstr>
      <vt:lpstr>React Lists and Keys</vt:lpstr>
      <vt:lpstr>React Lists and Keys (Cont.)</vt:lpstr>
      <vt:lpstr>React uses keys to:</vt:lpstr>
      <vt:lpstr>Best practices for keys:</vt:lpstr>
      <vt:lpstr>If the list can change, using index can cause:</vt:lpstr>
      <vt:lpstr>If the list can change, using index can cause: (Cont.)</vt:lpstr>
      <vt:lpstr>PowerPoint Presentation</vt:lpstr>
      <vt:lpstr>PowerPoint Presentation</vt:lpstr>
      <vt:lpstr>React Hooks (useState, useEffect, useContext)</vt:lpstr>
      <vt:lpstr>React Hooks (useState, useEffect, useContext) (Cont.)</vt:lpstr>
      <vt:lpstr>React Hooks (useState, useEffect, useContext) (Cont.)</vt:lpstr>
      <vt:lpstr>React Hooks (useState, useEffect, useContext) (Cont.)</vt:lpstr>
      <vt:lpstr>React Hooks (useState, useEffect, useContext) (Cont.)</vt:lpstr>
      <vt:lpstr>Why these three hooks matters</vt:lpstr>
      <vt:lpstr>Together, they cover:</vt:lpstr>
      <vt:lpstr>Forms in React</vt:lpstr>
      <vt:lpstr>Forms in React (Cont.)</vt:lpstr>
      <vt:lpstr>PowerPoint Presentation</vt:lpstr>
      <vt:lpstr>In React, you would:</vt:lpstr>
      <vt:lpstr>In React, you would: (Cont.)</vt:lpstr>
      <vt:lpstr>In React, you would: (Cont.)</vt:lpstr>
      <vt:lpstr>You can validate:</vt:lpstr>
      <vt:lpstr>When a form has many fields, you can:</vt:lpstr>
      <vt:lpstr>Basic submission pattern:</vt:lpstr>
      <vt:lpstr>Libraries like React Hook Form, Formik, or Zod help with:</vt:lpstr>
      <vt:lpstr>Forms are how users:</vt:lpstr>
      <vt:lpstr>Key points to remember</vt:lpstr>
      <vt:lpstr>Fetching Data &amp; Side Effects in React (using GitHub API)</vt:lpstr>
      <vt:lpstr>Fetching Data &amp; Side Effects in React (using GitHub API) (Cont.)</vt:lpstr>
      <vt:lpstr>Almost every real React app needs to: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Rakesh Kr</cp:lastModifiedBy>
  <cp:revision>12</cp:revision>
  <dcterms:created xsi:type="dcterms:W3CDTF">2013-01-27T09:14:16Z</dcterms:created>
  <dcterms:modified xsi:type="dcterms:W3CDTF">2026-07-30T11:03:16Z</dcterms:modified>
  <cp:category/>
</cp:coreProperties>
</file>